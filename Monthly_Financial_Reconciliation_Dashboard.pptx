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8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G:\data%20analysis\assignment\assignment6%20(project%205)\Monthly%20Financial%20Reconciliation%20Dashboard%20Final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G:\data%20analysis\assignment\assignment6%20(project%205)\Monthly%20Financial%20Reconciliation%20Dashboard%20Final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G:\data%20analysis\assignment\assignment6%20(project%205)\Monthly%20Financial%20Reconciliation%20Dashboard%20Final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G:\data%20analysis\assignment\assignment6%20(project%205)\Monthly%20Financial%20Reconciliation%20Dashboard%20Final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pivotSource>
    <c:name>[Monthly Financial Reconciliation Dashboard Final.xlsx]Pivot_tables!Total Orders by Month </c:name>
    <c:fmtId val="1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Total Orders by Month </a:t>
            </a:r>
          </a:p>
        </c:rich>
      </c:tx>
      <c:layout>
        <c:manualLayout>
          <c:xMode val="edge"/>
          <c:yMode val="edge"/>
          <c:x val="5.0614439324116765E-2"/>
          <c:y val="4.336043360433604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Pivot_tables!$L$3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Pivot_tables!$K$4:$K$29</c:f>
              <c:strCache>
                <c:ptCount val="25"/>
                <c:pt idx="0">
                  <c:v>2016-09</c:v>
                </c:pt>
                <c:pt idx="1">
                  <c:v>2016-10</c:v>
                </c:pt>
                <c:pt idx="2">
                  <c:v>2016-12</c:v>
                </c:pt>
                <c:pt idx="3">
                  <c:v>2017-01</c:v>
                </c:pt>
                <c:pt idx="4">
                  <c:v>2017-02</c:v>
                </c:pt>
                <c:pt idx="5">
                  <c:v>2017-03</c:v>
                </c:pt>
                <c:pt idx="6">
                  <c:v>2017-04</c:v>
                </c:pt>
                <c:pt idx="7">
                  <c:v>2017-05</c:v>
                </c:pt>
                <c:pt idx="8">
                  <c:v>2017-06</c:v>
                </c:pt>
                <c:pt idx="9">
                  <c:v>2017-07</c:v>
                </c:pt>
                <c:pt idx="10">
                  <c:v>2017-08</c:v>
                </c:pt>
                <c:pt idx="11">
                  <c:v>2017-09</c:v>
                </c:pt>
                <c:pt idx="12">
                  <c:v>2017-10</c:v>
                </c:pt>
                <c:pt idx="13">
                  <c:v>2017-11</c:v>
                </c:pt>
                <c:pt idx="14">
                  <c:v>2017-12</c:v>
                </c:pt>
                <c:pt idx="15">
                  <c:v>2018-01</c:v>
                </c:pt>
                <c:pt idx="16">
                  <c:v>2018-02</c:v>
                </c:pt>
                <c:pt idx="17">
                  <c:v>2018-03</c:v>
                </c:pt>
                <c:pt idx="18">
                  <c:v>2018-04</c:v>
                </c:pt>
                <c:pt idx="19">
                  <c:v>2018-05</c:v>
                </c:pt>
                <c:pt idx="20">
                  <c:v>2018-06</c:v>
                </c:pt>
                <c:pt idx="21">
                  <c:v>2018-07</c:v>
                </c:pt>
                <c:pt idx="22">
                  <c:v>2018-08</c:v>
                </c:pt>
                <c:pt idx="23">
                  <c:v>2018-09</c:v>
                </c:pt>
                <c:pt idx="24">
                  <c:v>2018-10</c:v>
                </c:pt>
              </c:strCache>
            </c:strRef>
          </c:cat>
          <c:val>
            <c:numRef>
              <c:f>Pivot_tables!$L$4:$L$29</c:f>
              <c:numCache>
                <c:formatCode>General</c:formatCode>
                <c:ptCount val="25"/>
                <c:pt idx="0">
                  <c:v>4</c:v>
                </c:pt>
                <c:pt idx="1">
                  <c:v>324</c:v>
                </c:pt>
                <c:pt idx="2">
                  <c:v>1</c:v>
                </c:pt>
                <c:pt idx="3">
                  <c:v>800</c:v>
                </c:pt>
                <c:pt idx="4">
                  <c:v>1780</c:v>
                </c:pt>
                <c:pt idx="5">
                  <c:v>2682</c:v>
                </c:pt>
                <c:pt idx="6">
                  <c:v>2404</c:v>
                </c:pt>
                <c:pt idx="7">
                  <c:v>3700</c:v>
                </c:pt>
                <c:pt idx="8">
                  <c:v>3245</c:v>
                </c:pt>
                <c:pt idx="9">
                  <c:v>4026</c:v>
                </c:pt>
                <c:pt idx="10">
                  <c:v>4331</c:v>
                </c:pt>
                <c:pt idx="11">
                  <c:v>4285</c:v>
                </c:pt>
                <c:pt idx="12">
                  <c:v>4631</c:v>
                </c:pt>
                <c:pt idx="13">
                  <c:v>7544</c:v>
                </c:pt>
                <c:pt idx="14">
                  <c:v>5673</c:v>
                </c:pt>
                <c:pt idx="15">
                  <c:v>7269</c:v>
                </c:pt>
                <c:pt idx="16">
                  <c:v>6728</c:v>
                </c:pt>
                <c:pt idx="17">
                  <c:v>7211</c:v>
                </c:pt>
                <c:pt idx="18">
                  <c:v>6939</c:v>
                </c:pt>
                <c:pt idx="19">
                  <c:v>6873</c:v>
                </c:pt>
                <c:pt idx="20">
                  <c:v>6167</c:v>
                </c:pt>
                <c:pt idx="21">
                  <c:v>6292</c:v>
                </c:pt>
                <c:pt idx="22">
                  <c:v>6512</c:v>
                </c:pt>
                <c:pt idx="23">
                  <c:v>16</c:v>
                </c:pt>
                <c:pt idx="24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12-4345-B911-E79AC02C7E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490089296"/>
        <c:axId val="1490093616"/>
      </c:barChart>
      <c:catAx>
        <c:axId val="1490089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90093616"/>
        <c:crosses val="autoZero"/>
        <c:auto val="1"/>
        <c:lblAlgn val="ctr"/>
        <c:lblOffset val="100"/>
        <c:noMultiLvlLbl val="0"/>
      </c:catAx>
      <c:valAx>
        <c:axId val="14900936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900892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pivotSource>
    <c:name>[Monthly Financial Reconciliation Dashboard Final.xlsx]Pivot_tables!PivotTable1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Delivery  performance: Late Deliveries &amp; Average Delay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hade val="76000"/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hade val="76000"/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shade val="76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>
                  <a:shade val="76000"/>
                </a:schemeClr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tint val="77000"/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tint val="77000"/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tint val="77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>
                  <a:tint val="77000"/>
                </a:schemeClr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</c:pivotFmt>
      <c:pivotFmt>
        <c:idx val="2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tint val="77000"/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tint val="77000"/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tint val="77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>
                  <a:tint val="77000"/>
                </a:schemeClr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tint val="77000"/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tint val="77000"/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tint val="77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>
                  <a:tint val="77000"/>
                </a:schemeClr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tint val="77000"/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tint val="77000"/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tint val="77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>
                  <a:tint val="77000"/>
                </a:schemeClr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tint val="77000"/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tint val="77000"/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tint val="77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>
                  <a:tint val="77000"/>
                </a:schemeClr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Pivot_tables!$BD$53</c:f>
              <c:strCache>
                <c:ptCount val="1"/>
                <c:pt idx="0">
                  <c:v>Late Deliveries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76000"/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hade val="76000"/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shade val="76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Pivot_tables!$BC$54:$BC$76</c:f>
              <c:strCache>
                <c:ptCount val="22"/>
                <c:pt idx="0">
                  <c:v>2018-03</c:v>
                </c:pt>
                <c:pt idx="1">
                  <c:v>2016-09</c:v>
                </c:pt>
                <c:pt idx="2">
                  <c:v>2016-10</c:v>
                </c:pt>
                <c:pt idx="3">
                  <c:v>2017-01</c:v>
                </c:pt>
                <c:pt idx="4">
                  <c:v>2017-02</c:v>
                </c:pt>
                <c:pt idx="5">
                  <c:v>2017-03</c:v>
                </c:pt>
                <c:pt idx="6">
                  <c:v>2017-04</c:v>
                </c:pt>
                <c:pt idx="7">
                  <c:v>2017-05</c:v>
                </c:pt>
                <c:pt idx="8">
                  <c:v>2017-06</c:v>
                </c:pt>
                <c:pt idx="9">
                  <c:v>2017-07</c:v>
                </c:pt>
                <c:pt idx="10">
                  <c:v>2017-08</c:v>
                </c:pt>
                <c:pt idx="11">
                  <c:v>2017-09</c:v>
                </c:pt>
                <c:pt idx="12">
                  <c:v>2017-10</c:v>
                </c:pt>
                <c:pt idx="13">
                  <c:v>2017-11</c:v>
                </c:pt>
                <c:pt idx="14">
                  <c:v>2017-12</c:v>
                </c:pt>
                <c:pt idx="15">
                  <c:v>2018-01</c:v>
                </c:pt>
                <c:pt idx="16">
                  <c:v>2018-02</c:v>
                </c:pt>
                <c:pt idx="17">
                  <c:v>2018-04</c:v>
                </c:pt>
                <c:pt idx="18">
                  <c:v>2018-05</c:v>
                </c:pt>
                <c:pt idx="19">
                  <c:v>2018-06</c:v>
                </c:pt>
                <c:pt idx="20">
                  <c:v>2018-07</c:v>
                </c:pt>
                <c:pt idx="21">
                  <c:v>2018-08</c:v>
                </c:pt>
              </c:strCache>
            </c:strRef>
          </c:cat>
          <c:val>
            <c:numRef>
              <c:f>Pivot_tables!$BD$54:$BD$76</c:f>
              <c:numCache>
                <c:formatCode>General</c:formatCode>
                <c:ptCount val="22"/>
                <c:pt idx="0">
                  <c:v>1496</c:v>
                </c:pt>
                <c:pt idx="1">
                  <c:v>1</c:v>
                </c:pt>
                <c:pt idx="2">
                  <c:v>3</c:v>
                </c:pt>
                <c:pt idx="3">
                  <c:v>23</c:v>
                </c:pt>
                <c:pt idx="4">
                  <c:v>53</c:v>
                </c:pt>
                <c:pt idx="5">
                  <c:v>142</c:v>
                </c:pt>
                <c:pt idx="6">
                  <c:v>181</c:v>
                </c:pt>
                <c:pt idx="7">
                  <c:v>128</c:v>
                </c:pt>
                <c:pt idx="8">
                  <c:v>121</c:v>
                </c:pt>
                <c:pt idx="9">
                  <c:v>133</c:v>
                </c:pt>
                <c:pt idx="10">
                  <c:v>139</c:v>
                </c:pt>
                <c:pt idx="11">
                  <c:v>216</c:v>
                </c:pt>
                <c:pt idx="12">
                  <c:v>237</c:v>
                </c:pt>
                <c:pt idx="13">
                  <c:v>1043</c:v>
                </c:pt>
                <c:pt idx="14">
                  <c:v>462</c:v>
                </c:pt>
                <c:pt idx="15">
                  <c:v>464</c:v>
                </c:pt>
                <c:pt idx="16">
                  <c:v>1049</c:v>
                </c:pt>
                <c:pt idx="17">
                  <c:v>361</c:v>
                </c:pt>
                <c:pt idx="18">
                  <c:v>556</c:v>
                </c:pt>
                <c:pt idx="19">
                  <c:v>83</c:v>
                </c:pt>
                <c:pt idx="20">
                  <c:v>276</c:v>
                </c:pt>
                <c:pt idx="21">
                  <c:v>660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DE-403F-8FC2-97BAED92650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087326096"/>
        <c:axId val="2087335216"/>
      </c:barChart>
      <c:lineChart>
        <c:grouping val="standard"/>
        <c:varyColors val="0"/>
        <c:ser>
          <c:idx val="1"/>
          <c:order val="1"/>
          <c:tx>
            <c:strRef>
              <c:f>Pivot_tables!$BE$53</c:f>
              <c:strCache>
                <c:ptCount val="1"/>
                <c:pt idx="0">
                  <c:v>Average Delay</c:v>
                </c:pt>
              </c:strCache>
            </c:strRef>
          </c:tx>
          <c:spPr>
            <a:ln w="34925" cap="rnd">
              <a:solidFill>
                <a:schemeClr val="accent2">
                  <a:tint val="77000"/>
                </a:schemeClr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2">
                      <a:tint val="77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tint val="77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tint val="77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2">
                    <a:tint val="77000"/>
                  </a:schemeClr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dLbls>
            <c:delete val="1"/>
          </c:dLbls>
          <c:cat>
            <c:strRef>
              <c:f>Pivot_tables!$BC$54:$BC$76</c:f>
              <c:strCache>
                <c:ptCount val="22"/>
                <c:pt idx="0">
                  <c:v>2018-03</c:v>
                </c:pt>
                <c:pt idx="1">
                  <c:v>2016-09</c:v>
                </c:pt>
                <c:pt idx="2">
                  <c:v>2016-10</c:v>
                </c:pt>
                <c:pt idx="3">
                  <c:v>2017-01</c:v>
                </c:pt>
                <c:pt idx="4">
                  <c:v>2017-02</c:v>
                </c:pt>
                <c:pt idx="5">
                  <c:v>2017-03</c:v>
                </c:pt>
                <c:pt idx="6">
                  <c:v>2017-04</c:v>
                </c:pt>
                <c:pt idx="7">
                  <c:v>2017-05</c:v>
                </c:pt>
                <c:pt idx="8">
                  <c:v>2017-06</c:v>
                </c:pt>
                <c:pt idx="9">
                  <c:v>2017-07</c:v>
                </c:pt>
                <c:pt idx="10">
                  <c:v>2017-08</c:v>
                </c:pt>
                <c:pt idx="11">
                  <c:v>2017-09</c:v>
                </c:pt>
                <c:pt idx="12">
                  <c:v>2017-10</c:v>
                </c:pt>
                <c:pt idx="13">
                  <c:v>2017-11</c:v>
                </c:pt>
                <c:pt idx="14">
                  <c:v>2017-12</c:v>
                </c:pt>
                <c:pt idx="15">
                  <c:v>2018-01</c:v>
                </c:pt>
                <c:pt idx="16">
                  <c:v>2018-02</c:v>
                </c:pt>
                <c:pt idx="17">
                  <c:v>2018-04</c:v>
                </c:pt>
                <c:pt idx="18">
                  <c:v>2018-05</c:v>
                </c:pt>
                <c:pt idx="19">
                  <c:v>2018-06</c:v>
                </c:pt>
                <c:pt idx="20">
                  <c:v>2018-07</c:v>
                </c:pt>
                <c:pt idx="21">
                  <c:v>2018-08</c:v>
                </c:pt>
              </c:strCache>
            </c:strRef>
          </c:cat>
          <c:val>
            <c:numRef>
              <c:f>Pivot_tables!$BE$54:$BE$76</c:f>
              <c:numCache>
                <c:formatCode>General</c:formatCode>
                <c:ptCount val="22"/>
                <c:pt idx="0">
                  <c:v>10.016566265060241</c:v>
                </c:pt>
                <c:pt idx="1">
                  <c:v>36</c:v>
                </c:pt>
                <c:pt idx="2">
                  <c:v>9.5</c:v>
                </c:pt>
                <c:pt idx="3">
                  <c:v>20.227272727272727</c:v>
                </c:pt>
                <c:pt idx="4">
                  <c:v>20.795918367346939</c:v>
                </c:pt>
                <c:pt idx="5">
                  <c:v>25.431034482758619</c:v>
                </c:pt>
                <c:pt idx="6">
                  <c:v>12.33774834437086</c:v>
                </c:pt>
                <c:pt idx="7">
                  <c:v>12.537735849056604</c:v>
                </c:pt>
                <c:pt idx="8">
                  <c:v>14.263157894736842</c:v>
                </c:pt>
                <c:pt idx="9">
                  <c:v>11.685185185185185</c:v>
                </c:pt>
                <c:pt idx="10">
                  <c:v>8.7868852459016402</c:v>
                </c:pt>
                <c:pt idx="11">
                  <c:v>9.3791208791208796</c:v>
                </c:pt>
                <c:pt idx="12">
                  <c:v>9.235294117647058</c:v>
                </c:pt>
                <c:pt idx="13">
                  <c:v>11.178097345132743</c:v>
                </c:pt>
                <c:pt idx="14">
                  <c:v>9.7347931873479325</c:v>
                </c:pt>
                <c:pt idx="15">
                  <c:v>11.88089330024814</c:v>
                </c:pt>
                <c:pt idx="16">
                  <c:v>12.577130528586839</c:v>
                </c:pt>
                <c:pt idx="17">
                  <c:v>10.395424836601308</c:v>
                </c:pt>
                <c:pt idx="18">
                  <c:v>7.1038374717832955</c:v>
                </c:pt>
                <c:pt idx="19">
                  <c:v>13.352112676056338</c:v>
                </c:pt>
                <c:pt idx="20">
                  <c:v>8.4230769230769234</c:v>
                </c:pt>
                <c:pt idx="21">
                  <c:v>4.4198473282442752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DDE-403F-8FC2-97BAED92650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87327056"/>
        <c:axId val="2087323216"/>
      </c:lineChart>
      <c:catAx>
        <c:axId val="20873270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7323216"/>
        <c:crosses val="autoZero"/>
        <c:auto val="1"/>
        <c:lblAlgn val="ctr"/>
        <c:lblOffset val="100"/>
        <c:noMultiLvlLbl val="0"/>
      </c:catAx>
      <c:valAx>
        <c:axId val="20873232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1"/>
                  <a:t>Average</a:t>
                </a:r>
                <a:r>
                  <a:rPr lang="en-US" sz="1000" b="1" baseline="0"/>
                  <a:t> Delay (Day)</a:t>
                </a:r>
                <a:endParaRPr lang="en-US" sz="1000" b="1"/>
              </a:p>
            </c:rich>
          </c:tx>
          <c:layout>
            <c:manualLayout>
              <c:xMode val="edge"/>
              <c:yMode val="edge"/>
              <c:x val="5.2410546669251273E-3"/>
              <c:y val="0.2072954765339973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7327056"/>
        <c:crosses val="autoZero"/>
        <c:crossBetween val="between"/>
      </c:valAx>
      <c:valAx>
        <c:axId val="2087335216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1"/>
                  <a:t>Number of lat deliveries 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7326096"/>
        <c:crosses val="max"/>
        <c:crossBetween val="between"/>
      </c:valAx>
      <c:catAx>
        <c:axId val="208732609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2087335216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pivotSource>
    <c:name>[Monthly Financial Reconciliation Dashboard Final.xlsx]Pivot_tables!Net Profit Trend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 b="1" i="0" u="none" strike="noStrike" baseline="0" dirty="0">
                <a:solidFill>
                  <a:schemeClr val="accent2"/>
                </a:solidFill>
              </a:rPr>
              <a:t>Net Profit Trend</a:t>
            </a:r>
          </a:p>
          <a:p>
            <a:pPr>
              <a:defRPr/>
            </a:pP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25400"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25400"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25400"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areaChart>
        <c:grouping val="standard"/>
        <c:varyColors val="0"/>
        <c:ser>
          <c:idx val="0"/>
          <c:order val="0"/>
          <c:tx>
            <c:strRef>
              <c:f>Pivot_tables!$AS$53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25400"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cat>
            <c:strRef>
              <c:f>Pivot_tables!$AR$54:$AR$78</c:f>
              <c:strCache>
                <c:ptCount val="24"/>
                <c:pt idx="0">
                  <c:v>2016-09</c:v>
                </c:pt>
                <c:pt idx="1">
                  <c:v>2016-10</c:v>
                </c:pt>
                <c:pt idx="2">
                  <c:v>2016-12</c:v>
                </c:pt>
                <c:pt idx="3">
                  <c:v>2017-01</c:v>
                </c:pt>
                <c:pt idx="4">
                  <c:v>2017-02</c:v>
                </c:pt>
                <c:pt idx="5">
                  <c:v>2017-03</c:v>
                </c:pt>
                <c:pt idx="6">
                  <c:v>2017-04</c:v>
                </c:pt>
                <c:pt idx="7">
                  <c:v>2017-05</c:v>
                </c:pt>
                <c:pt idx="8">
                  <c:v>2017-06</c:v>
                </c:pt>
                <c:pt idx="9">
                  <c:v>2017-07</c:v>
                </c:pt>
                <c:pt idx="10">
                  <c:v>2017-08</c:v>
                </c:pt>
                <c:pt idx="11">
                  <c:v>2017-09</c:v>
                </c:pt>
                <c:pt idx="12">
                  <c:v>2017-10</c:v>
                </c:pt>
                <c:pt idx="13">
                  <c:v>2017-11</c:v>
                </c:pt>
                <c:pt idx="14">
                  <c:v>2017-12</c:v>
                </c:pt>
                <c:pt idx="15">
                  <c:v>2018-01</c:v>
                </c:pt>
                <c:pt idx="16">
                  <c:v>2018-02</c:v>
                </c:pt>
                <c:pt idx="17">
                  <c:v>2018-03</c:v>
                </c:pt>
                <c:pt idx="18">
                  <c:v>2018-04</c:v>
                </c:pt>
                <c:pt idx="19">
                  <c:v>2018-05</c:v>
                </c:pt>
                <c:pt idx="20">
                  <c:v>2018-06</c:v>
                </c:pt>
                <c:pt idx="21">
                  <c:v>2018-07</c:v>
                </c:pt>
                <c:pt idx="22">
                  <c:v>2018-08</c:v>
                </c:pt>
                <c:pt idx="23">
                  <c:v>2018-09</c:v>
                </c:pt>
              </c:strCache>
            </c:strRef>
          </c:cat>
          <c:val>
            <c:numRef>
              <c:f>Pivot_tables!$AS$54:$AS$78</c:f>
              <c:numCache>
                <c:formatCode>\$#,##0.00;\(\$#,##0.00\);\$#,##0.00</c:formatCode>
                <c:ptCount val="24"/>
                <c:pt idx="0">
                  <c:v>179.97</c:v>
                </c:pt>
                <c:pt idx="1">
                  <c:v>42206.48</c:v>
                </c:pt>
                <c:pt idx="2">
                  <c:v>2.1799999999999997</c:v>
                </c:pt>
                <c:pt idx="3">
                  <c:v>103437.25</c:v>
                </c:pt>
                <c:pt idx="4">
                  <c:v>208325.42000000027</c:v>
                </c:pt>
                <c:pt idx="5">
                  <c:v>316640.01000000088</c:v>
                </c:pt>
                <c:pt idx="6">
                  <c:v>307432.22000000079</c:v>
                </c:pt>
                <c:pt idx="7">
                  <c:v>425951.33000000013</c:v>
                </c:pt>
                <c:pt idx="8">
                  <c:v>363114.16000000003</c:v>
                </c:pt>
                <c:pt idx="9">
                  <c:v>411091.3399999981</c:v>
                </c:pt>
                <c:pt idx="10">
                  <c:v>479738.75999999873</c:v>
                </c:pt>
                <c:pt idx="11">
                  <c:v>528404.4700000016</c:v>
                </c:pt>
                <c:pt idx="12">
                  <c:v>559126.49000000197</c:v>
                </c:pt>
                <c:pt idx="13">
                  <c:v>841398.97000000998</c:v>
                </c:pt>
                <c:pt idx="14">
                  <c:v>624281.11000000336</c:v>
                </c:pt>
                <c:pt idx="15">
                  <c:v>792758.83000000834</c:v>
                </c:pt>
                <c:pt idx="16">
                  <c:v>701448.46000000893</c:v>
                </c:pt>
                <c:pt idx="17">
                  <c:v>811300.06000000075</c:v>
                </c:pt>
                <c:pt idx="18">
                  <c:v>833597.46000000602</c:v>
                </c:pt>
                <c:pt idx="19">
                  <c:v>843253.54000000225</c:v>
                </c:pt>
                <c:pt idx="20">
                  <c:v>707571.50999999943</c:v>
                </c:pt>
                <c:pt idx="21">
                  <c:v>732286.40999999829</c:v>
                </c:pt>
                <c:pt idx="22">
                  <c:v>706064.19000000122</c:v>
                </c:pt>
                <c:pt idx="23">
                  <c:v>123.53999999999999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81B-4B28-9BF5-03FE5C2E00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15490927"/>
        <c:axId val="915484207"/>
      </c:areaChart>
      <c:catAx>
        <c:axId val="91549092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5484207"/>
        <c:crosses val="autoZero"/>
        <c:auto val="1"/>
        <c:lblAlgn val="ctr"/>
        <c:lblOffset val="100"/>
        <c:noMultiLvlLbl val="0"/>
      </c:catAx>
      <c:valAx>
        <c:axId val="9154842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\$#,##0.00;\(\$#,##0.00\);\$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5490927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pivotSource>
    <c:name>[Monthly Financial Reconciliation Dashboard Final.xlsx]Pivot_tables!Monthly Revenue Forecast</c:name>
    <c:fmtId val="11"/>
  </c:pivotSource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kern="120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1600" b="1" i="0" u="none" strike="noStrike" baseline="0"/>
              <a:t>Monthly Revenue Forecast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600" b="1" i="0" u="none" strike="noStrike" kern="120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Pivot_tables!$AH$53</c:f>
              <c:strCache>
                <c:ptCount val="1"/>
                <c:pt idx="0">
                  <c:v>Total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2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cat>
            <c:strRef>
              <c:f>Pivot_tables!$AG$54:$AG$77</c:f>
              <c:strCache>
                <c:ptCount val="23"/>
                <c:pt idx="0">
                  <c:v>2016-09</c:v>
                </c:pt>
                <c:pt idx="1">
                  <c:v>2016-10</c:v>
                </c:pt>
                <c:pt idx="2">
                  <c:v>2016-12</c:v>
                </c:pt>
                <c:pt idx="3">
                  <c:v>2017-01</c:v>
                </c:pt>
                <c:pt idx="4">
                  <c:v>2017-02</c:v>
                </c:pt>
                <c:pt idx="5">
                  <c:v>2017-03</c:v>
                </c:pt>
                <c:pt idx="6">
                  <c:v>2017-04</c:v>
                </c:pt>
                <c:pt idx="7">
                  <c:v>2017-05</c:v>
                </c:pt>
                <c:pt idx="8">
                  <c:v>2017-06</c:v>
                </c:pt>
                <c:pt idx="9">
                  <c:v>2017-07</c:v>
                </c:pt>
                <c:pt idx="10">
                  <c:v>2017-08</c:v>
                </c:pt>
                <c:pt idx="11">
                  <c:v>2017-09</c:v>
                </c:pt>
                <c:pt idx="12">
                  <c:v>2017-10</c:v>
                </c:pt>
                <c:pt idx="13">
                  <c:v>2017-11</c:v>
                </c:pt>
                <c:pt idx="14">
                  <c:v>2017-12</c:v>
                </c:pt>
                <c:pt idx="15">
                  <c:v>2018-01</c:v>
                </c:pt>
                <c:pt idx="16">
                  <c:v>2018-02</c:v>
                </c:pt>
                <c:pt idx="17">
                  <c:v>2018-03</c:v>
                </c:pt>
                <c:pt idx="18">
                  <c:v>2018-04</c:v>
                </c:pt>
                <c:pt idx="19">
                  <c:v>2018-05</c:v>
                </c:pt>
                <c:pt idx="20">
                  <c:v>2018-06</c:v>
                </c:pt>
                <c:pt idx="21">
                  <c:v>2018-07</c:v>
                </c:pt>
                <c:pt idx="22">
                  <c:v>2018-08</c:v>
                </c:pt>
              </c:strCache>
            </c:strRef>
          </c:cat>
          <c:val>
            <c:numRef>
              <c:f>Pivot_tables!$AH$54:$AH$77</c:f>
              <c:numCache>
                <c:formatCode>\$#,##0.00;\(\$#,##0.00\);\$#,##0.00</c:formatCode>
                <c:ptCount val="23"/>
                <c:pt idx="0">
                  <c:v>143.46</c:v>
                </c:pt>
                <c:pt idx="1">
                  <c:v>46490.660000000011</c:v>
                </c:pt>
                <c:pt idx="2">
                  <c:v>19.62</c:v>
                </c:pt>
                <c:pt idx="3">
                  <c:v>127482.36999999981</c:v>
                </c:pt>
                <c:pt idx="4">
                  <c:v>271239.31999999954</c:v>
                </c:pt>
                <c:pt idx="5">
                  <c:v>414330.95000000071</c:v>
                </c:pt>
                <c:pt idx="6">
                  <c:v>390812.40000000049</c:v>
                </c:pt>
                <c:pt idx="7">
                  <c:v>566851.40000000352</c:v>
                </c:pt>
                <c:pt idx="8">
                  <c:v>490050.37000000325</c:v>
                </c:pt>
                <c:pt idx="9">
                  <c:v>566299.0800000031</c:v>
                </c:pt>
                <c:pt idx="10">
                  <c:v>645832.36000000197</c:v>
                </c:pt>
                <c:pt idx="11">
                  <c:v>701077.49</c:v>
                </c:pt>
                <c:pt idx="12">
                  <c:v>751117.00999999943</c:v>
                </c:pt>
                <c:pt idx="13">
                  <c:v>1153364.2000000007</c:v>
                </c:pt>
                <c:pt idx="14">
                  <c:v>843078.29000000062</c:v>
                </c:pt>
                <c:pt idx="15">
                  <c:v>1077887.4599999995</c:v>
                </c:pt>
                <c:pt idx="16">
                  <c:v>966168.41000000027</c:v>
                </c:pt>
                <c:pt idx="17">
                  <c:v>1120598.2399999958</c:v>
                </c:pt>
                <c:pt idx="18">
                  <c:v>1132878.9299999981</c:v>
                </c:pt>
                <c:pt idx="19">
                  <c:v>1128774.5199999975</c:v>
                </c:pt>
                <c:pt idx="20">
                  <c:v>1011978.2899999995</c:v>
                </c:pt>
                <c:pt idx="21">
                  <c:v>1027807.2799999991</c:v>
                </c:pt>
                <c:pt idx="22">
                  <c:v>985491.63999999745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9EE-497C-AA99-B31936DE80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15486127"/>
        <c:axId val="915492847"/>
      </c:lineChart>
      <c:catAx>
        <c:axId val="9154861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5492847"/>
        <c:crosses val="autoZero"/>
        <c:auto val="1"/>
        <c:lblAlgn val="ctr"/>
        <c:lblOffset val="100"/>
        <c:noMultiLvlLbl val="0"/>
      </c:catAx>
      <c:valAx>
        <c:axId val="9154928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\$#,##0.00;\(\$#,##0.00\);\$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54861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3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4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style1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34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34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1137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workspace/images/cover-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1A1B">
              <a:alpha val="6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267200" y="1135112"/>
            <a:ext cx="609600" cy="50750"/>
          </a:xfrm>
          <a:prstGeom prst="rect">
            <a:avLst/>
          </a:prstGeom>
          <a:solidFill>
            <a:srgbClr val="E0783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274320" y="1541413"/>
            <a:ext cx="8595211" cy="1184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spcAft>
                <a:spcPts val="1200"/>
              </a:spcAft>
              <a:buNone/>
            </a:pPr>
            <a:r>
              <a:rPr lang="en-US" sz="36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Monthly Financial</a:t>
            </a:r>
            <a:endParaRPr lang="en-US" sz="3600" dirty="0"/>
          </a:p>
          <a:p>
            <a:pPr marL="0" indent="0" algn="ctr">
              <a:lnSpc>
                <a:spcPts val="4320"/>
              </a:lnSpc>
              <a:spcAft>
                <a:spcPts val="1200"/>
              </a:spcAft>
              <a:buNone/>
            </a:pPr>
            <a:r>
              <a:rPr lang="en-US" sz="36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Reconciliation Dashboard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823293" y="2790974"/>
            <a:ext cx="5497413" cy="30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40"/>
              </a:lnSpc>
              <a:spcAft>
                <a:spcPts val="3200"/>
              </a:spcAft>
              <a:buNone/>
            </a:pPr>
            <a:r>
              <a:rPr lang="en-US" sz="1600" dirty="0">
                <a:solidFill>
                  <a:srgbClr val="FFFFFF">
                    <a:alpha val="7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Olist E-Commerce Platform | Data Analysis &amp; BI Project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368850" y="3481685"/>
            <a:ext cx="406301" cy="25301"/>
          </a:xfrm>
          <a:prstGeom prst="rect">
            <a:avLst/>
          </a:prstGeom>
          <a:solidFill>
            <a:srgbClr val="E0783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3272622" y="3760887"/>
            <a:ext cx="2598608" cy="26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>
                    <a:alpha val="55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Prepared by: Youssef Mostafa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22282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3625"/>
            <a:ext cx="2852849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Project Objective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1461641"/>
            <a:ext cx="38100" cy="457200"/>
          </a:xfrm>
          <a:prstGeom prst="roundRect">
            <a:avLst>
              <a:gd name="adj" fmla="val 66667"/>
            </a:avLst>
          </a:prstGeom>
          <a:solidFill>
            <a:srgbClr val="E0783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74650" y="1436340"/>
            <a:ext cx="4568190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D343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Reconcile Financial Records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4650" y="1722090"/>
            <a:ext cx="4360545" cy="748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7616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Ensure consistency between order prices and payment records across 99K+ transactions to identify discrepancies.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09600" y="2618036"/>
            <a:ext cx="38100" cy="457200"/>
          </a:xfrm>
          <a:prstGeom prst="roundRect">
            <a:avLst>
              <a:gd name="adj" fmla="val 66667"/>
            </a:avLst>
          </a:prstGeom>
          <a:solidFill>
            <a:srgbClr val="E0783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74650" y="2592735"/>
            <a:ext cx="4568190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D343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Monitor Operational KPIs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4650" y="2878485"/>
            <a:ext cx="4360545" cy="49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7616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Track revenue, profit margins, delivery performance, and order status for actionable business intelligence.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9600" y="3543449"/>
            <a:ext cx="38100" cy="457200"/>
          </a:xfrm>
          <a:prstGeom prst="roundRect">
            <a:avLst>
              <a:gd name="adj" fmla="val 66667"/>
            </a:avLst>
          </a:prstGeom>
          <a:solidFill>
            <a:srgbClr val="E0783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74650" y="3518148"/>
            <a:ext cx="4568190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2D343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Enable Data-Driven Decisions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4650" y="3803898"/>
            <a:ext cx="4360545" cy="49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7616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Build an interactive Excel dashboard with Power Query, DAX, and PivotTables for deep analysis.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81451" y="1004590"/>
            <a:ext cx="3048000" cy="1112490"/>
          </a:xfrm>
          <a:prstGeom prst="roundRect">
            <a:avLst>
              <a:gd name="adj" fmla="val 11416"/>
            </a:avLst>
          </a:prstGeom>
          <a:solidFill>
            <a:srgbClr val="F3F4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917799" y="1233190"/>
            <a:ext cx="3575304" cy="438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00"/>
              </a:lnSpc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E0783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99,441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5099155" y="1690390"/>
            <a:ext cx="3212592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200" dirty="0">
                <a:solidFill>
                  <a:srgbClr val="8D949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Orders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81451" y="2294781"/>
            <a:ext cx="3048000" cy="1112490"/>
          </a:xfrm>
          <a:prstGeom prst="roundRect">
            <a:avLst>
              <a:gd name="adj" fmla="val 11416"/>
            </a:avLst>
          </a:prstGeom>
          <a:solidFill>
            <a:srgbClr val="F3F4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917799" y="2523381"/>
            <a:ext cx="3575304" cy="438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00"/>
              </a:lnSpc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E0783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099155" y="2980581"/>
            <a:ext cx="3212592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200" dirty="0">
                <a:solidFill>
                  <a:srgbClr val="8D949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Months of Data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81451" y="3584972"/>
            <a:ext cx="3048000" cy="1112490"/>
          </a:xfrm>
          <a:prstGeom prst="roundRect">
            <a:avLst>
              <a:gd name="adj" fmla="val 11416"/>
            </a:avLst>
          </a:prstGeom>
          <a:solidFill>
            <a:srgbClr val="F3F4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917799" y="3813572"/>
            <a:ext cx="3575304" cy="438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00"/>
              </a:lnSpc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E0783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5176879" y="4270772"/>
            <a:ext cx="3057144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200" dirty="0">
                <a:solidFill>
                  <a:srgbClr val="8D949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 Datasets Merged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37852"/>
          </a:xfrm>
          <a:prstGeom prst="rect">
            <a:avLst/>
          </a:prstGeom>
          <a:solidFill>
            <a:srgbClr val="22282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57001"/>
            <a:ext cx="4502237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Dataset &amp; Data Preparation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641003"/>
            <a:ext cx="3911545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2D343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Source Datasets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09600" y="1015603"/>
            <a:ext cx="3555950" cy="711696"/>
          </a:xfrm>
          <a:prstGeom prst="roundRect">
            <a:avLst>
              <a:gd name="adj" fmla="val 1427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33412" y="1015603"/>
            <a:ext cx="0" cy="711696"/>
          </a:xfrm>
          <a:prstGeom prst="line">
            <a:avLst/>
          </a:prstGeom>
          <a:noFill/>
          <a:ln w="47625">
            <a:solidFill>
              <a:srgbClr val="E078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4926" y="1168003"/>
            <a:ext cx="3468216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2D343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olist_orders_dataset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34926" y="1393329"/>
            <a:ext cx="3468216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100" dirty="0">
                <a:solidFill>
                  <a:srgbClr val="8D949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99,441 rows | Order IDs, dates, status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854250"/>
            <a:ext cx="3555950" cy="711696"/>
          </a:xfrm>
          <a:prstGeom prst="roundRect">
            <a:avLst>
              <a:gd name="adj" fmla="val 1427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854250"/>
            <a:ext cx="0" cy="711696"/>
          </a:xfrm>
          <a:prstGeom prst="line">
            <a:avLst/>
          </a:prstGeom>
          <a:noFill/>
          <a:ln w="47625">
            <a:solidFill>
              <a:srgbClr val="E078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4926" y="2006650"/>
            <a:ext cx="3468216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2D343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olist_order_items_dataset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34926" y="2231975"/>
            <a:ext cx="3468216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100" dirty="0">
                <a:solidFill>
                  <a:srgbClr val="8D949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112,650 rows | Prices, freight, products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9600" y="2692896"/>
            <a:ext cx="3555950" cy="711696"/>
          </a:xfrm>
          <a:prstGeom prst="roundRect">
            <a:avLst>
              <a:gd name="adj" fmla="val 1427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692896"/>
            <a:ext cx="0" cy="711696"/>
          </a:xfrm>
          <a:prstGeom prst="line">
            <a:avLst/>
          </a:prstGeom>
          <a:noFill/>
          <a:ln w="47625">
            <a:solidFill>
              <a:srgbClr val="E078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4926" y="2845296"/>
            <a:ext cx="3468216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2D343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olist_order_payments_dataset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4926" y="3070622"/>
            <a:ext cx="3468216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100" dirty="0">
                <a:solidFill>
                  <a:srgbClr val="8D949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103,887 rows | Payment values, types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68701" y="641003"/>
            <a:ext cx="3911545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2D343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Power Query Steps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368701" y="1015603"/>
            <a:ext cx="3555950" cy="893266"/>
          </a:xfrm>
          <a:prstGeom prst="roundRect">
            <a:avLst>
              <a:gd name="adj" fmla="val 1137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546402" y="1168003"/>
            <a:ext cx="3520604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E0783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1. Group &amp; Order Items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46402" y="1393329"/>
            <a:ext cx="3360576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100" dirty="0">
                <a:solidFill>
                  <a:srgbClr val="8D949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Group by order_id: SUM price, SUM freight, COUNT Order  items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08810" y="2040219"/>
            <a:ext cx="3555950" cy="893266"/>
          </a:xfrm>
          <a:prstGeom prst="roundRect">
            <a:avLst>
              <a:gd name="adj" fmla="val 1137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546402" y="2188220"/>
            <a:ext cx="3520604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E0783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2. Group  Order Payments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46402" y="2413546"/>
            <a:ext cx="3360576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100" dirty="0">
                <a:solidFill>
                  <a:srgbClr val="8D949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Group by </a:t>
            </a:r>
            <a:r>
              <a:rPr lang="en-US" sz="1100" dirty="0" err="1">
                <a:solidFill>
                  <a:srgbClr val="8D949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order_id</a:t>
            </a:r>
            <a:r>
              <a:rPr lang="en-US" sz="1100" dirty="0">
                <a:solidFill>
                  <a:srgbClr val="8D949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: SUM Payment  value, COUNT Payment sequentials, 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68701" y="3056037"/>
            <a:ext cx="3555950" cy="893266"/>
          </a:xfrm>
          <a:prstGeom prst="roundRect">
            <a:avLst>
              <a:gd name="adj" fmla="val 1137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546402" y="3208437"/>
            <a:ext cx="3520604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E0783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3. Merge Queries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46402" y="3433763"/>
            <a:ext cx="3360576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100" dirty="0">
                <a:solidFill>
                  <a:srgbClr val="8D949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Left join orders with Order items and  Order payments on order_id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368701" y="4076254"/>
            <a:ext cx="3555950" cy="711696"/>
          </a:xfrm>
          <a:prstGeom prst="roundRect">
            <a:avLst>
              <a:gd name="adj" fmla="val 1427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546402" y="4228654"/>
            <a:ext cx="3520604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E0783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4. Clean &amp; Validate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46402" y="4453979"/>
            <a:ext cx="3520604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100" dirty="0">
                <a:solidFill>
                  <a:srgbClr val="8D949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Remove nulls, validate dates, check duplicates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workspace/images/dark-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61360" y="0"/>
            <a:ext cx="9366319" cy="5219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304800"/>
            <a:ext cx="5488245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DAX Measures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609600" y="752475"/>
            <a:ext cx="507950" cy="38100"/>
          </a:xfrm>
          <a:prstGeom prst="rect">
            <a:avLst/>
          </a:prstGeom>
          <a:solidFill>
            <a:srgbClr val="E0783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09600" y="968276"/>
            <a:ext cx="412490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96826" y="1485751"/>
            <a:ext cx="3499649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6826" y="1736527"/>
            <a:ext cx="3340574" cy="690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96826" y="2827139"/>
            <a:ext cx="3690539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96826" y="3077914"/>
            <a:ext cx="3340574" cy="690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09600" y="1066746"/>
            <a:ext cx="391154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0783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 DAX Measures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00447" y="1496692"/>
            <a:ext cx="3555950" cy="846928"/>
          </a:xfrm>
          <a:prstGeom prst="roundRect">
            <a:avLst>
              <a:gd name="adj" fmla="val 16332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706845" y="1622594"/>
            <a:ext cx="3690539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57561" y="1882711"/>
            <a:ext cx="349964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=SUM(The_dataset[Total</a:t>
            </a:r>
            <a:r>
              <a:rPr lang="ar-EG" sz="1100" dirty="0">
                <a:solidFill>
                  <a:srgbClr val="FFFFFF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Price])+The</a:t>
            </a:r>
            <a:r>
              <a:rPr lang="ar-EG" sz="1100" dirty="0">
                <a:solidFill>
                  <a:srgbClr val="FFFFFF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dataset</a:t>
            </a:r>
            <a:endParaRPr lang="ar-EG" sz="1100" dirty="0">
              <a:solidFill>
                <a:srgbClr val="FFFFFF">
                  <a:alpha val="60000"/>
                </a:srgbClr>
              </a:solidFill>
              <a:latin typeface="Century Gothic" pitchFamily="34" charset="0"/>
              <a:ea typeface="Century Gothic" pitchFamily="34" charset="-122"/>
              <a:cs typeface="Century Gothic" pitchFamily="34" charset="-120"/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[Sum</a:t>
            </a:r>
            <a:r>
              <a:rPr lang="ar-EG" sz="1100" dirty="0">
                <a:solidFill>
                  <a:srgbClr val="FFFFFF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fright</a:t>
            </a:r>
            <a:r>
              <a:rPr lang="ar-EG" sz="1100" dirty="0">
                <a:solidFill>
                  <a:srgbClr val="FFFFFF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value]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02116" y="2459818"/>
            <a:ext cx="3555950" cy="771772"/>
          </a:xfrm>
          <a:prstGeom prst="roundRect">
            <a:avLst>
              <a:gd name="adj" fmla="val 16332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712650" y="2561779"/>
            <a:ext cx="3499649" cy="190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Expected Revenue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58417" y="2811675"/>
            <a:ext cx="349964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=SUM(The dataset[Total</a:t>
            </a:r>
            <a:r>
              <a:rPr lang="ar-EG" sz="1100" dirty="0">
                <a:solidFill>
                  <a:srgbClr val="FFFFFF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Price])+The</a:t>
            </a:r>
            <a:r>
              <a:rPr lang="ar-EG" sz="1100" dirty="0">
                <a:solidFill>
                  <a:srgbClr val="FFFFFF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dataset</a:t>
            </a:r>
            <a:endParaRPr lang="ar-EG" sz="1100" dirty="0">
              <a:solidFill>
                <a:srgbClr val="FFFFFF">
                  <a:alpha val="60000"/>
                </a:srgbClr>
              </a:solidFill>
              <a:latin typeface="Century Gothic" pitchFamily="34" charset="0"/>
              <a:ea typeface="Century Gothic" pitchFamily="34" charset="-122"/>
              <a:cs typeface="Century Gothic" pitchFamily="34" charset="-120"/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[Sum</a:t>
            </a:r>
            <a:r>
              <a:rPr lang="ar-EG" sz="1100" dirty="0">
                <a:solidFill>
                  <a:srgbClr val="FFFFFF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fright</a:t>
            </a:r>
            <a:r>
              <a:rPr lang="ar-EG" sz="1100" dirty="0">
                <a:solidFill>
                  <a:srgbClr val="FFFFFF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value] &lt;&gt; "canceled" &amp;&amp;&lt;&gt;"unavailable"</a:t>
            </a:r>
            <a:endParaRPr lang="en-US" sz="1100" dirty="0"/>
          </a:p>
          <a:p>
            <a:pPr marL="0" indent="0" algn="l">
              <a:buNone/>
            </a:pPr>
            <a:r>
              <a:rPr lang="ar-EG" sz="1100" dirty="0">
                <a:solidFill>
                  <a:srgbClr val="FFFFFF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00447" y="3424156"/>
            <a:ext cx="3555950" cy="690996"/>
          </a:xfrm>
          <a:prstGeom prst="roundRect">
            <a:avLst>
              <a:gd name="adj" fmla="val 16332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717288" y="3490164"/>
            <a:ext cx="3499649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Revenue Reconciliation %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58417" y="3748888"/>
            <a:ext cx="349964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=DIVIDE([Total Payments Received],[Expected Revenue]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29410" y="4343697"/>
            <a:ext cx="3555950" cy="622102"/>
          </a:xfrm>
          <a:prstGeom prst="roundRect">
            <a:avLst>
              <a:gd name="adj" fmla="val 16332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720102" y="4464088"/>
            <a:ext cx="3690539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Net Profit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62423" y="4725230"/>
            <a:ext cx="349964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=[Total Revenue]-SUM(Freight)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435740" y="1518324"/>
            <a:ext cx="3555950" cy="622102"/>
          </a:xfrm>
          <a:prstGeom prst="roundRect">
            <a:avLst>
              <a:gd name="adj" fmla="val 16332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606677" y="1622044"/>
            <a:ext cx="3690539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Gross Margin %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606677" y="1847869"/>
            <a:ext cx="349964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=DIVIDE([Net Profit],[Total Revenue])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22282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3625"/>
            <a:ext cx="2501594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Financial KPIs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1581299"/>
            <a:ext cx="2438400" cy="1257151"/>
          </a:xfrm>
          <a:prstGeom prst="roundRect">
            <a:avLst>
              <a:gd name="adj" fmla="val 10102"/>
            </a:avLst>
          </a:prstGeom>
          <a:solidFill>
            <a:srgbClr val="F3F4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09600" y="2819400"/>
            <a:ext cx="2438400" cy="0"/>
          </a:xfrm>
          <a:prstGeom prst="line">
            <a:avLst/>
          </a:prstGeom>
          <a:noFill/>
          <a:ln w="38100">
            <a:solidFill>
              <a:srgbClr val="E078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7341" y="1809899"/>
            <a:ext cx="258291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dirty="0">
                <a:solidFill>
                  <a:srgbClr val="8D949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4851" y="2013049"/>
            <a:ext cx="2707898" cy="38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E0783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R$15.4M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99831" y="2419350"/>
            <a:ext cx="245793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949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Sum of order prices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1581299"/>
            <a:ext cx="2438400" cy="1257151"/>
          </a:xfrm>
          <a:prstGeom prst="roundRect">
            <a:avLst>
              <a:gd name="adj" fmla="val 10102"/>
            </a:avLst>
          </a:prstGeom>
          <a:solidFill>
            <a:srgbClr val="F3F4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200400" y="2819400"/>
            <a:ext cx="2438400" cy="0"/>
          </a:xfrm>
          <a:prstGeom prst="line">
            <a:avLst/>
          </a:prstGeom>
          <a:noFill/>
          <a:ln w="38100">
            <a:solidFill>
              <a:srgbClr val="E078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90631" y="1809899"/>
            <a:ext cx="245793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dirty="0">
                <a:solidFill>
                  <a:srgbClr val="8D949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Expected Revenue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65651" y="2013049"/>
            <a:ext cx="2707898" cy="38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E0783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R$15.7M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190631" y="2419350"/>
            <a:ext cx="245793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949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Sum of payment values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91200" y="1581299"/>
            <a:ext cx="2438400" cy="1257151"/>
          </a:xfrm>
          <a:prstGeom prst="roundRect">
            <a:avLst>
              <a:gd name="adj" fmla="val 10102"/>
            </a:avLst>
          </a:prstGeom>
          <a:solidFill>
            <a:srgbClr val="F3F4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791200" y="2819400"/>
            <a:ext cx="2438400" cy="0"/>
          </a:xfrm>
          <a:prstGeom prst="line">
            <a:avLst/>
          </a:prstGeom>
          <a:noFill/>
          <a:ln w="38100">
            <a:solidFill>
              <a:srgbClr val="E078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81431" y="1809899"/>
            <a:ext cx="245793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dirty="0">
                <a:solidFill>
                  <a:srgbClr val="8D949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Reconciliation 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573131" y="2013049"/>
            <a:ext cx="2874538" cy="38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2D343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101.7%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781431" y="2419350"/>
            <a:ext cx="245793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949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Payments exceed by 1.7%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9600" y="3016151"/>
            <a:ext cx="2438400" cy="1257151"/>
          </a:xfrm>
          <a:prstGeom prst="roundRect">
            <a:avLst>
              <a:gd name="adj" fmla="val 10102"/>
            </a:avLst>
          </a:prstGeom>
          <a:solidFill>
            <a:srgbClr val="F3F4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09600" y="4254252"/>
            <a:ext cx="2438400" cy="0"/>
          </a:xfrm>
          <a:prstGeom prst="line">
            <a:avLst/>
          </a:prstGeom>
          <a:noFill/>
          <a:ln w="38100">
            <a:solidFill>
              <a:srgbClr val="E078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9831" y="3244751"/>
            <a:ext cx="245793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dirty="0">
                <a:solidFill>
                  <a:srgbClr val="8D949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Payments Received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4851" y="3447901"/>
            <a:ext cx="2707898" cy="38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E0783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R$16.0M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99831" y="3854202"/>
            <a:ext cx="245793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949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transactions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0" y="3016151"/>
            <a:ext cx="2438400" cy="1257151"/>
          </a:xfrm>
          <a:prstGeom prst="roundRect">
            <a:avLst>
              <a:gd name="adj" fmla="val 10102"/>
            </a:avLst>
          </a:prstGeom>
          <a:solidFill>
            <a:srgbClr val="F3F4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3200400" y="4254252"/>
            <a:ext cx="2438400" cy="0"/>
          </a:xfrm>
          <a:prstGeom prst="line">
            <a:avLst/>
          </a:prstGeom>
          <a:noFill/>
          <a:ln w="38100">
            <a:solidFill>
              <a:srgbClr val="E078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28141" y="3244751"/>
            <a:ext cx="258291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dirty="0">
                <a:solidFill>
                  <a:srgbClr val="8D949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Net Profit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065651" y="3447901"/>
            <a:ext cx="2707898" cy="38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2D343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R$11.3M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3190631" y="3854202"/>
            <a:ext cx="245793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949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Revenue minus freight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791200" y="3016151"/>
            <a:ext cx="2438400" cy="1257151"/>
          </a:xfrm>
          <a:prstGeom prst="roundRect">
            <a:avLst>
              <a:gd name="adj" fmla="val 10102"/>
            </a:avLst>
          </a:prstGeom>
          <a:solidFill>
            <a:srgbClr val="F3F4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5791200" y="4254252"/>
            <a:ext cx="2438400" cy="0"/>
          </a:xfrm>
          <a:prstGeom prst="line">
            <a:avLst/>
          </a:prstGeom>
          <a:noFill/>
          <a:ln w="38100">
            <a:solidFill>
              <a:srgbClr val="E0783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18941" y="3244751"/>
            <a:ext cx="258291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dirty="0">
                <a:solidFill>
                  <a:srgbClr val="8D949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Gross Margin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73131" y="3447901"/>
            <a:ext cx="2874538" cy="38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2D343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73.5%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5718941" y="3854202"/>
            <a:ext cx="258291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949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Healthy margin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22282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3625"/>
            <a:ext cx="2589913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Order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888802"/>
            <a:ext cx="5867400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43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Orders by Month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09600" y="1165027"/>
            <a:ext cx="5334000" cy="3622923"/>
          </a:xfrm>
          <a:prstGeom prst="roundRect">
            <a:avLst>
              <a:gd name="adj" fmla="val 2103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146750" y="933896"/>
            <a:ext cx="2158901" cy="837902"/>
          </a:xfrm>
          <a:prstGeom prst="roundRect">
            <a:avLst>
              <a:gd name="adj" fmla="val 12126"/>
            </a:avLst>
          </a:prstGeom>
          <a:solidFill>
            <a:srgbClr val="F3F4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981786" y="1111597"/>
            <a:ext cx="24888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E0783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99,441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108031" y="1441698"/>
            <a:ext cx="223633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949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Orders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146750" y="1924199"/>
            <a:ext cx="2158901" cy="837902"/>
          </a:xfrm>
          <a:prstGeom prst="roundRect">
            <a:avLst>
              <a:gd name="adj" fmla="val 12126"/>
            </a:avLst>
          </a:prstGeom>
          <a:solidFill>
            <a:srgbClr val="F3F4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053926" y="2101900"/>
            <a:ext cx="23445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E0783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R$155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162136" y="2432000"/>
            <a:ext cx="212812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949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Avg Order Value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146750" y="2914501"/>
            <a:ext cx="2158901" cy="837902"/>
          </a:xfrm>
          <a:prstGeom prst="roundRect">
            <a:avLst>
              <a:gd name="adj" fmla="val 12126"/>
            </a:avLst>
          </a:prstGeom>
          <a:solidFill>
            <a:srgbClr val="F3F4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981786" y="3092202"/>
            <a:ext cx="24888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2D343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97%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6108031" y="3422303"/>
            <a:ext cx="223633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949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Delivered Rate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146750" y="3904804"/>
            <a:ext cx="2158901" cy="837902"/>
          </a:xfrm>
          <a:prstGeom prst="roundRect">
            <a:avLst>
              <a:gd name="adj" fmla="val 12126"/>
            </a:avLst>
          </a:prstGeom>
          <a:solidFill>
            <a:srgbClr val="F3F4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5981786" y="4082504"/>
            <a:ext cx="24888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E74C3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0.6%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6162136" y="4412605"/>
            <a:ext cx="212812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949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Cancellation Rate</a:t>
            </a:r>
            <a:endParaRPr lang="en-US" sz="1100" dirty="0"/>
          </a:p>
        </p:txBody>
      </p:sp>
      <p:graphicFrame>
        <p:nvGraphicFramePr>
          <p:cNvPr id="19" name="Total Orders by Month ">
            <a:extLst>
              <a:ext uri="{FF2B5EF4-FFF2-40B4-BE49-F238E27FC236}">
                <a16:creationId xmlns:a16="http://schemas.microsoft.com/office/drawing/2014/main" id="{1D94698A-5677-402D-BE8E-F128C4C8D54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77271642"/>
              </p:ext>
            </p:extLst>
          </p:nvPr>
        </p:nvGraphicFramePr>
        <p:xfrm>
          <a:off x="673386" y="1593183"/>
          <a:ext cx="5488750" cy="26054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22282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3625"/>
            <a:ext cx="279462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Delivery Insights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888802"/>
            <a:ext cx="2438400" cy="984052"/>
          </a:xfrm>
          <a:prstGeom prst="roundRect">
            <a:avLst>
              <a:gd name="adj" fmla="val 1290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26652" y="1091952"/>
            <a:ext cx="2804297" cy="38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E74C3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7,827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29861" y="1498253"/>
            <a:ext cx="2397877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D949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Late Deliveries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0" y="888802"/>
            <a:ext cx="2438400" cy="984052"/>
          </a:xfrm>
          <a:prstGeom prst="roundRect">
            <a:avLst>
              <a:gd name="adj" fmla="val 1290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017452" y="1091952"/>
            <a:ext cx="2804297" cy="38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E0783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10.6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20661" y="1498253"/>
            <a:ext cx="2397877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D949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Avg Delay (Days)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91200" y="888802"/>
            <a:ext cx="2438400" cy="984052"/>
          </a:xfrm>
          <a:prstGeom prst="roundRect">
            <a:avLst>
              <a:gd name="adj" fmla="val 1290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608252" y="1091952"/>
            <a:ext cx="2804297" cy="38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2D343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7.9%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811461" y="1498253"/>
            <a:ext cx="2397877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D949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Late Delivery Rate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600" y="2025253"/>
            <a:ext cx="7924800" cy="2762696"/>
          </a:xfrm>
          <a:prstGeom prst="roundRect">
            <a:avLst>
              <a:gd name="adj" fmla="val 367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15415445-D88A-4156-A0F3-C81A197121A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49127555"/>
              </p:ext>
            </p:extLst>
          </p:nvPr>
        </p:nvGraphicFramePr>
        <p:xfrm>
          <a:off x="609601" y="2232726"/>
          <a:ext cx="7924800" cy="22847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workspace/images/dark-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355550"/>
            <a:ext cx="4379826" cy="43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Profitability Analysis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09600" y="866626"/>
            <a:ext cx="507950" cy="38100"/>
          </a:xfrm>
          <a:prstGeom prst="rect">
            <a:avLst/>
          </a:prstGeom>
          <a:solidFill>
            <a:srgbClr val="E0783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09600" y="1427857"/>
            <a:ext cx="3301901" cy="1418481"/>
          </a:xfrm>
          <a:prstGeom prst="roundRect">
            <a:avLst>
              <a:gd name="adj" fmla="val 8953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56768" y="1742182"/>
            <a:ext cx="36075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E0783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R$11.3M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540020" y="2300883"/>
            <a:ext cx="3441061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Net Profit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09600" y="3049488"/>
            <a:ext cx="3301901" cy="1418481"/>
          </a:xfrm>
          <a:prstGeom prst="roundRect">
            <a:avLst>
              <a:gd name="adj" fmla="val 8953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345766" y="3363813"/>
            <a:ext cx="38295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73.5%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540020" y="3922514"/>
            <a:ext cx="3441061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Gross Margin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216301" y="1158627"/>
            <a:ext cx="4317950" cy="3578572"/>
          </a:xfrm>
          <a:prstGeom prst="roundRect">
            <a:avLst>
              <a:gd name="adj" fmla="val 3549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13" name="Net Profit Trend">
            <a:extLst>
              <a:ext uri="{FF2B5EF4-FFF2-40B4-BE49-F238E27FC236}">
                <a16:creationId xmlns:a16="http://schemas.microsoft.com/office/drawing/2014/main" id="{7E072C71-04BC-4161-B12F-923E16712B4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44268962"/>
              </p:ext>
            </p:extLst>
          </p:nvPr>
        </p:nvGraphicFramePr>
        <p:xfrm>
          <a:off x="4299552" y="1278550"/>
          <a:ext cx="4234699" cy="33544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22282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3625"/>
            <a:ext cx="3531877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Revenue Forecasting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0681" y="888802"/>
            <a:ext cx="7924800" cy="2781895"/>
          </a:xfrm>
          <a:prstGeom prst="roundRect">
            <a:avLst>
              <a:gd name="adj" fmla="val 3652"/>
            </a:avLst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09600" y="3823097"/>
            <a:ext cx="2438400" cy="964853"/>
          </a:xfrm>
          <a:prstGeom prst="roundRect">
            <a:avLst>
              <a:gd name="adj" fmla="val 10530"/>
            </a:avLst>
          </a:prstGeom>
          <a:solidFill>
            <a:srgbClr val="F3F4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633412" y="3823097"/>
            <a:ext cx="0" cy="964853"/>
          </a:xfrm>
          <a:prstGeom prst="line">
            <a:avLst/>
          </a:prstGeom>
          <a:noFill/>
          <a:ln w="47625">
            <a:solidFill>
              <a:srgbClr val="E0783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0681" y="4000798"/>
            <a:ext cx="25238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dirty="0">
                <a:solidFill>
                  <a:srgbClr val="8D949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Peak Month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29620" y="4203948"/>
            <a:ext cx="264598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E0783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Nov 2017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51742" y="4457849"/>
            <a:ext cx="240174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949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R$1.153M Revenue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200400" y="3823097"/>
            <a:ext cx="2438400" cy="964853"/>
          </a:xfrm>
          <a:prstGeom prst="roundRect">
            <a:avLst>
              <a:gd name="adj" fmla="val 10530"/>
            </a:avLst>
          </a:prstGeom>
          <a:solidFill>
            <a:srgbClr val="F3F4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3224213" y="3823097"/>
            <a:ext cx="0" cy="964853"/>
          </a:xfrm>
          <a:prstGeom prst="line">
            <a:avLst/>
          </a:prstGeom>
          <a:noFill/>
          <a:ln w="47625">
            <a:solidFill>
              <a:srgbClr val="E0783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181481" y="4000798"/>
            <a:ext cx="25238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dirty="0">
                <a:solidFill>
                  <a:srgbClr val="8D949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Growth Trend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039005" y="4203948"/>
            <a:ext cx="280881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2D343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+722%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242542" y="4457849"/>
            <a:ext cx="240174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949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 2017 to Apr 2018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791200" y="3823097"/>
            <a:ext cx="2438400" cy="964853"/>
          </a:xfrm>
          <a:prstGeom prst="roundRect">
            <a:avLst>
              <a:gd name="adj" fmla="val 10530"/>
            </a:avLst>
          </a:prstGeom>
          <a:solidFill>
            <a:srgbClr val="F3F4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5815013" y="3823097"/>
            <a:ext cx="0" cy="964853"/>
          </a:xfrm>
          <a:prstGeom prst="line">
            <a:avLst/>
          </a:prstGeom>
          <a:noFill/>
          <a:ln w="47625">
            <a:solidFill>
              <a:srgbClr val="E0783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711220" y="4000798"/>
            <a:ext cx="264598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100" dirty="0">
                <a:solidFill>
                  <a:srgbClr val="8D949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Forecast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711220" y="4203948"/>
            <a:ext cx="264598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E74C3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Stable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833342" y="4457849"/>
            <a:ext cx="240174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949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Revenue at ~R$1M/mo</a:t>
            </a:r>
            <a:endParaRPr lang="en-US" sz="1100" dirty="0"/>
          </a:p>
        </p:txBody>
      </p:sp>
      <p:graphicFrame>
        <p:nvGraphicFramePr>
          <p:cNvPr id="21" name="Monthly Revenue Forecast">
            <a:extLst>
              <a:ext uri="{FF2B5EF4-FFF2-40B4-BE49-F238E27FC236}">
                <a16:creationId xmlns:a16="http://schemas.microsoft.com/office/drawing/2014/main" id="{478862AC-2A7C-46E8-BEDF-E4BF65C923F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67325832"/>
              </p:ext>
            </p:extLst>
          </p:nvPr>
        </p:nvGraphicFramePr>
        <p:xfrm>
          <a:off x="585198" y="922765"/>
          <a:ext cx="7644402" cy="25921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22282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3625"/>
            <a:ext cx="5220333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Interactive Dashboard Features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937310"/>
            <a:ext cx="3555950" cy="1452414"/>
          </a:xfrm>
          <a:prstGeom prst="roundRect">
            <a:avLst>
              <a:gd name="adj" fmla="val 699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2750" y="1091952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E0783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50268" y="1172914"/>
            <a:ext cx="146233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95251" y="1163389"/>
            <a:ext cx="86638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343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Slicers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750" y="1549152"/>
            <a:ext cx="3307132" cy="690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7616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Dynamic filters for Order Status, Payment Type, and Month. Click to filter all PivotTables and charts simultaneously.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68707" y="929348"/>
            <a:ext cx="3555950" cy="1452414"/>
          </a:xfrm>
          <a:prstGeom prst="roundRect">
            <a:avLst>
              <a:gd name="adj" fmla="val 699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32340" y="106552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E0783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661207" y="1137719"/>
            <a:ext cx="146233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10597" y="1172914"/>
            <a:ext cx="106663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343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Timeline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12482" y="1549399"/>
            <a:ext cx="3307132" cy="690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7616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Date-based control for scrolling months and quarters. Zoom between monthly and quarterly granularity.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387575" y="2633290"/>
            <a:ext cx="3555950" cy="1452414"/>
          </a:xfrm>
          <a:prstGeom prst="roundRect">
            <a:avLst>
              <a:gd name="adj" fmla="val 699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604956" y="2834878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E0783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723562" y="2917365"/>
            <a:ext cx="146233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064691" y="2928355"/>
            <a:ext cx="125953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D343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Drill-Down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36393" y="3314641"/>
            <a:ext cx="3307132" cy="690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7616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Double-click any PivotTable cell to drill into underlying order details from summary to transaction level.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869795" y="2652235"/>
            <a:ext cx="263671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383086" y="3185530"/>
            <a:ext cx="3307132" cy="690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22282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3625"/>
            <a:ext cx="3725912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 Business Insights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888802"/>
            <a:ext cx="3911545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0783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Financial Observations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600" y="1225302"/>
            <a:ext cx="3555950" cy="1074837"/>
          </a:xfrm>
          <a:prstGeom prst="roundRect">
            <a:avLst>
              <a:gd name="adj" fmla="val 9453"/>
            </a:avLst>
          </a:prstGeom>
          <a:solidFill>
            <a:srgbClr val="F3F4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33412" y="1225302"/>
            <a:ext cx="0" cy="1074837"/>
          </a:xfrm>
          <a:prstGeom prst="line">
            <a:avLst/>
          </a:prstGeom>
          <a:noFill/>
          <a:ln w="47625">
            <a:solidFill>
              <a:srgbClr val="E078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4926" y="1377702"/>
            <a:ext cx="3468216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2D343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Revenue Reconciliation Surplus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34926" y="1603028"/>
            <a:ext cx="3310570" cy="588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100" dirty="0">
                <a:solidFill>
                  <a:srgbClr val="57616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Payments exceed item prices by 1.7%, suggesting additional fees or multi-payment aggregation effects.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427089"/>
            <a:ext cx="3555950" cy="893266"/>
          </a:xfrm>
          <a:prstGeom prst="roundRect">
            <a:avLst>
              <a:gd name="adj" fmla="val 11374"/>
            </a:avLst>
          </a:prstGeom>
          <a:solidFill>
            <a:srgbClr val="F3F4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2427089"/>
            <a:ext cx="0" cy="893266"/>
          </a:xfrm>
          <a:prstGeom prst="line">
            <a:avLst/>
          </a:prstGeom>
          <a:noFill/>
          <a:ln w="47625">
            <a:solidFill>
              <a:srgbClr val="E078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4926" y="2579489"/>
            <a:ext cx="3468216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2D343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Strong Gross Margin of 73.5%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34926" y="2804815"/>
            <a:ext cx="3310570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100" dirty="0">
                <a:solidFill>
                  <a:srgbClr val="57616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Freight costs are only 26.5% of revenue, indicating efficient logistics and healthy profitability.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9600" y="3447306"/>
            <a:ext cx="3555950" cy="893266"/>
          </a:xfrm>
          <a:prstGeom prst="roundRect">
            <a:avLst>
              <a:gd name="adj" fmla="val 11374"/>
            </a:avLst>
          </a:prstGeom>
          <a:solidFill>
            <a:srgbClr val="F3F4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3447306"/>
            <a:ext cx="0" cy="893266"/>
          </a:xfrm>
          <a:prstGeom prst="line">
            <a:avLst/>
          </a:prstGeom>
          <a:noFill/>
          <a:ln w="47625">
            <a:solidFill>
              <a:srgbClr val="E078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4926" y="3599706"/>
            <a:ext cx="3468216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2D343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Revenue Plateau in 2018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4926" y="3825032"/>
            <a:ext cx="3310570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100" dirty="0">
                <a:solidFill>
                  <a:srgbClr val="57616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After 722% growth, revenue stabilized around R$1M/month, suggesting market saturation.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68701" y="888802"/>
            <a:ext cx="3911545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0783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Operational Insights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94027" y="1377702"/>
            <a:ext cx="3468216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94027" y="1603028"/>
            <a:ext cx="3310570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buNone/>
            </a:pP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368701" y="1299053"/>
            <a:ext cx="3555950" cy="893266"/>
          </a:xfrm>
          <a:prstGeom prst="roundRect">
            <a:avLst>
              <a:gd name="adj" fmla="val 11374"/>
            </a:avLst>
          </a:prstGeom>
          <a:solidFill>
            <a:srgbClr val="F3F4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392513" y="1298050"/>
            <a:ext cx="0" cy="893266"/>
          </a:xfrm>
          <a:prstGeom prst="line">
            <a:avLst/>
          </a:prstGeom>
          <a:noFill/>
          <a:ln w="47625">
            <a:solidFill>
              <a:srgbClr val="E078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57192" y="1373113"/>
            <a:ext cx="3468216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2D343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Late Delivery Concentration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57192" y="1610975"/>
            <a:ext cx="3310570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100" dirty="0">
                <a:solidFill>
                  <a:srgbClr val="57616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7,827 late deliveries with Mar 2018 peak (1,496). Avg delay of 10.6 days needs improvement.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392513" y="2427089"/>
            <a:ext cx="3555950" cy="893266"/>
          </a:xfrm>
          <a:prstGeom prst="roundRect">
            <a:avLst>
              <a:gd name="adj" fmla="val 11374"/>
            </a:avLst>
          </a:prstGeom>
          <a:solidFill>
            <a:srgbClr val="F3F4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392513" y="2427089"/>
            <a:ext cx="0" cy="893266"/>
          </a:xfrm>
          <a:prstGeom prst="line">
            <a:avLst/>
          </a:prstGeom>
          <a:noFill/>
          <a:ln w="47625">
            <a:solidFill>
              <a:srgbClr val="E078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57192" y="2574556"/>
            <a:ext cx="3468216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2D343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97% Delivery Success Rate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94027" y="2873722"/>
            <a:ext cx="3310570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100" dirty="0">
                <a:solidFill>
                  <a:srgbClr val="57616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Only 0.6% cancellation rate. Late deliveries need attention for customer satisfaction.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workspace/images/cover-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1A1B">
              <a:alpha val="6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3457706" y="355550"/>
            <a:ext cx="2228588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317950" y="828526"/>
            <a:ext cx="507950" cy="38100"/>
          </a:xfrm>
          <a:prstGeom prst="rect">
            <a:avLst/>
          </a:prstGeom>
          <a:solidFill>
            <a:srgbClr val="E0783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09600" y="1069777"/>
            <a:ext cx="2438400" cy="3343573"/>
          </a:xfrm>
          <a:prstGeom prst="roundRect">
            <a:avLst>
              <a:gd name="adj" fmla="val 5208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796826" y="1282452"/>
            <a:ext cx="2435459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0783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Project Summary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6826" y="1583978"/>
            <a:ext cx="2167146" cy="1612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75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Built a comprehensive financial reconciliation dashboard analyzing 99K+ orders, reconciling R$15.4M revenue against R$16M payments with full variance analysis.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200400" y="1069777"/>
            <a:ext cx="2438400" cy="3343573"/>
          </a:xfrm>
          <a:prstGeom prst="roundRect">
            <a:avLst>
              <a:gd name="adj" fmla="val 5208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3387626" y="1282452"/>
            <a:ext cx="2435459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0783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Business Impact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387626" y="1583978"/>
            <a:ext cx="2167146" cy="1151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75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Identified revenue surplus of 1.7%, confirmed 73.5% gross margin, and flagged late delivery patterns for operational improvement.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791200" y="1069777"/>
            <a:ext cx="2438400" cy="3343573"/>
          </a:xfrm>
          <a:prstGeom prst="roundRect">
            <a:avLst>
              <a:gd name="adj" fmla="val 5208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978426" y="1282452"/>
            <a:ext cx="2435459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0783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Skills Demonstrated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978426" y="1583978"/>
            <a:ext cx="2167146" cy="1151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75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Power Query, DAX measures, interactive dashboard design, and financial reconciliation using Excel tools.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13360" y="4565749"/>
            <a:ext cx="863600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Prepared by Youssef Mostafa | Monthly Financial Reconciliation Dashboard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716</Words>
  <Application>Microsoft Office PowerPoint</Application>
  <PresentationFormat>On-screen Show (16:9)</PresentationFormat>
  <Paragraphs>149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Monthly Financial Reconciliation Dashboard</dc:title>
  <dc:subject>Financial Analysis &amp; BI Dashboard</dc:subject>
  <dc:creator>Youssef Mostafa</dc:creator>
  <cp:lastModifiedBy>yousseffortina@hotmail.com</cp:lastModifiedBy>
  <cp:revision>5</cp:revision>
  <dcterms:created xsi:type="dcterms:W3CDTF">2026-05-24T19:55:55Z</dcterms:created>
  <dcterms:modified xsi:type="dcterms:W3CDTF">2026-05-25T23:51:53Z</dcterms:modified>
</cp:coreProperties>
</file>