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Monthly%20Financial%20Reconciliation%20Dashboard%20Final%203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Monthly%20Financial%20Reconciliation%20Dashboard%20Final%203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Monthly%20Financial%20Reconciliation%20Dashboard%20Final%203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Monthly%20Financial%20Reconciliation%20Dashboard%20Final%203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[Monthly Financial Reconciliation Dashboard Final 3.xlsx]Pivot_tables!Total Orders by Month 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Orders by Month </a:t>
            </a:r>
          </a:p>
        </c:rich>
      </c:tx>
      <c:layout>
        <c:manualLayout>
          <c:xMode val="edge"/>
          <c:yMode val="edge"/>
          <c:x val="5.0614439324116765E-2"/>
          <c:y val="4.336043360433604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Pivot_tables!$L$3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Pivot_tables!$K$4:$K$16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Pivot_tables!$L$4:$L$16</c:f>
              <c:numCache>
                <c:formatCode>General</c:formatCode>
                <c:ptCount val="12"/>
                <c:pt idx="0">
                  <c:v>8069</c:v>
                </c:pt>
                <c:pt idx="1">
                  <c:v>8508</c:v>
                </c:pt>
                <c:pt idx="2">
                  <c:v>9893</c:v>
                </c:pt>
                <c:pt idx="3">
                  <c:v>9343</c:v>
                </c:pt>
                <c:pt idx="4">
                  <c:v>10573</c:v>
                </c:pt>
                <c:pt idx="5">
                  <c:v>9412</c:v>
                </c:pt>
                <c:pt idx="6">
                  <c:v>10318</c:v>
                </c:pt>
                <c:pt idx="7">
                  <c:v>10843</c:v>
                </c:pt>
                <c:pt idx="8">
                  <c:v>4305</c:v>
                </c:pt>
                <c:pt idx="9">
                  <c:v>4959</c:v>
                </c:pt>
                <c:pt idx="10">
                  <c:v>7544</c:v>
                </c:pt>
                <c:pt idx="11">
                  <c:v>5674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41-4238-8A4F-EE48D7E7EE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490089296"/>
        <c:axId val="1490093616"/>
      </c:barChart>
      <c:catAx>
        <c:axId val="1490089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0093616"/>
        <c:crosses val="autoZero"/>
        <c:auto val="1"/>
        <c:lblAlgn val="ctr"/>
        <c:lblOffset val="100"/>
        <c:noMultiLvlLbl val="0"/>
      </c:catAx>
      <c:valAx>
        <c:axId val="1490093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0089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[Monthly Financial Reconciliation Dashboard Final 3.xlsx]Pivot_tables!PivotTable1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Delivery  performance: Late Deliveries &amp; Average Delay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hade val="76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hade val="76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shade val="7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>
                  <a:shade val="76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>
                  <a:tint val="77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>
                  <a:tint val="77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>
                  <a:tint val="77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</c:pivotFmt>
      <c:pivotFmt>
        <c:idx val="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>
                  <a:tint val="77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>
                  <a:tint val="77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Pivot_tables!$BD$53</c:f>
              <c:strCache>
                <c:ptCount val="1"/>
                <c:pt idx="0">
                  <c:v>Late Deliveries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76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hade val="76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shade val="7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Pivot_tables!$BC$54:$BC$66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Pivot_tables!$BD$54:$BD$66</c:f>
              <c:numCache>
                <c:formatCode>General</c:formatCode>
                <c:ptCount val="12"/>
                <c:pt idx="0">
                  <c:v>487</c:v>
                </c:pt>
                <c:pt idx="1">
                  <c:v>1102</c:v>
                </c:pt>
                <c:pt idx="2">
                  <c:v>1638</c:v>
                </c:pt>
                <c:pt idx="3">
                  <c:v>542</c:v>
                </c:pt>
                <c:pt idx="4">
                  <c:v>684</c:v>
                </c:pt>
                <c:pt idx="5">
                  <c:v>204</c:v>
                </c:pt>
                <c:pt idx="6">
                  <c:v>409</c:v>
                </c:pt>
                <c:pt idx="7">
                  <c:v>799</c:v>
                </c:pt>
                <c:pt idx="8">
                  <c:v>217</c:v>
                </c:pt>
                <c:pt idx="9">
                  <c:v>240</c:v>
                </c:pt>
                <c:pt idx="10">
                  <c:v>1043</c:v>
                </c:pt>
                <c:pt idx="11">
                  <c:v>462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32-4128-BBAB-EC84592AAD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87326096"/>
        <c:axId val="2087335216"/>
      </c:barChart>
      <c:lineChart>
        <c:grouping val="standard"/>
        <c:varyColors val="0"/>
        <c:ser>
          <c:idx val="1"/>
          <c:order val="1"/>
          <c:tx>
            <c:strRef>
              <c:f>Pivot_tables!$BE$53</c:f>
              <c:strCache>
                <c:ptCount val="1"/>
                <c:pt idx="0">
                  <c:v>Average Delay</c:v>
                </c:pt>
              </c:strCache>
            </c:strRef>
          </c:tx>
          <c:spPr>
            <a:ln w="34925" cap="rnd">
              <a:solidFill>
                <a:schemeClr val="accent2">
                  <a:tint val="77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tint val="77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tint val="77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tint val="77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>
                    <a:tint val="77000"/>
                  </a:schemeClr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delete val="1"/>
          </c:dLbls>
          <c:cat>
            <c:strRef>
              <c:f>Pivot_tables!$BC$54:$BC$66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Pivot_tables!$BE$54:$BE$66</c:f>
              <c:numCache>
                <c:formatCode>General</c:formatCode>
                <c:ptCount val="12"/>
                <c:pt idx="0">
                  <c:v>12.312941176470588</c:v>
                </c:pt>
                <c:pt idx="1">
                  <c:v>12.989754098360656</c:v>
                </c:pt>
                <c:pt idx="2">
                  <c:v>11.254847645429363</c:v>
                </c:pt>
                <c:pt idx="3">
                  <c:v>11.037199124726477</c:v>
                </c:pt>
                <c:pt idx="4">
                  <c:v>8.1530054644808736</c:v>
                </c:pt>
                <c:pt idx="5">
                  <c:v>13.873493975903614</c:v>
                </c:pt>
                <c:pt idx="6">
                  <c:v>9.537974683544304</c:v>
                </c:pt>
                <c:pt idx="7">
                  <c:v>5.4543689320388351</c:v>
                </c:pt>
                <c:pt idx="8">
                  <c:v>9.5245901639344268</c:v>
                </c:pt>
                <c:pt idx="9">
                  <c:v>9.2380952380952372</c:v>
                </c:pt>
                <c:pt idx="10">
                  <c:v>11.178097345132743</c:v>
                </c:pt>
                <c:pt idx="11">
                  <c:v>9.7347931873479325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832-4128-BBAB-EC84592AAD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87327056"/>
        <c:axId val="2087323216"/>
      </c:lineChart>
      <c:catAx>
        <c:axId val="20873270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7323216"/>
        <c:crosses val="autoZero"/>
        <c:auto val="1"/>
        <c:lblAlgn val="ctr"/>
        <c:lblOffset val="100"/>
        <c:noMultiLvlLbl val="0"/>
      </c:catAx>
      <c:valAx>
        <c:axId val="2087323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/>
                  <a:t>Average</a:t>
                </a:r>
                <a:r>
                  <a:rPr lang="en-US" sz="1000" b="1" baseline="0"/>
                  <a:t> Delay (Day)</a:t>
                </a:r>
                <a:endParaRPr lang="en-US" sz="1000" b="1"/>
              </a:p>
            </c:rich>
          </c:tx>
          <c:layout>
            <c:manualLayout>
              <c:xMode val="edge"/>
              <c:yMode val="edge"/>
              <c:x val="5.2410546669251273E-3"/>
              <c:y val="0.207295476533997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7327056"/>
        <c:crosses val="autoZero"/>
        <c:crossBetween val="between"/>
      </c:valAx>
      <c:valAx>
        <c:axId val="2087335216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/>
                  <a:t>Number of lat deliveries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7326096"/>
        <c:crosses val="max"/>
        <c:crossBetween val="between"/>
      </c:valAx>
      <c:catAx>
        <c:axId val="208732609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8733521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[Monthly Financial Reconciliation Dashboard Final 3.xlsx]Pivot_tables!Net Profit Trend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baseline="0" dirty="0">
                <a:solidFill>
                  <a:schemeClr val="bg1">
                    <a:lumMod val="75000"/>
                  </a:schemeClr>
                </a:solidFill>
              </a:rPr>
              <a:t>Net Profit Trend</a:t>
            </a:r>
          </a:p>
          <a:p>
            <a:pPr>
              <a:defRPr/>
            </a:pP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areaChart>
        <c:grouping val="standard"/>
        <c:varyColors val="0"/>
        <c:ser>
          <c:idx val="0"/>
          <c:order val="0"/>
          <c:tx>
            <c:strRef>
              <c:f>Pivot_tables!$AS$53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25400"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cat>
            <c:strRef>
              <c:f>Pivot_tables!$AR$54:$AR$66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Pivot_tables!$AS$54:$AS$66</c:f>
              <c:numCache>
                <c:formatCode>\$#,##0.00;\(\$#,##0.00\);\$#,##0.00</c:formatCode>
                <c:ptCount val="12"/>
                <c:pt idx="0">
                  <c:v>896196.08000001055</c:v>
                </c:pt>
                <c:pt idx="1">
                  <c:v>909773.88000001188</c:v>
                </c:pt>
                <c:pt idx="2">
                  <c:v>1127940.0699999987</c:v>
                </c:pt>
                <c:pt idx="3">
                  <c:v>1141029.6800000011</c:v>
                </c:pt>
                <c:pt idx="4">
                  <c:v>1269204.8700000048</c:v>
                </c:pt>
                <c:pt idx="5">
                  <c:v>1070685.670000006</c:v>
                </c:pt>
                <c:pt idx="6">
                  <c:v>1143377.7500000123</c:v>
                </c:pt>
                <c:pt idx="7">
                  <c:v>1185802.9500000137</c:v>
                </c:pt>
                <c:pt idx="8">
                  <c:v>528707.98000000161</c:v>
                </c:pt>
                <c:pt idx="9">
                  <c:v>601332.97000000312</c:v>
                </c:pt>
                <c:pt idx="10">
                  <c:v>841398.97000000998</c:v>
                </c:pt>
                <c:pt idx="11">
                  <c:v>624283.29000000341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1F-41BB-B649-9F278836CA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15490927"/>
        <c:axId val="915484207"/>
      </c:areaChart>
      <c:catAx>
        <c:axId val="91549092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5484207"/>
        <c:crosses val="autoZero"/>
        <c:auto val="1"/>
        <c:lblAlgn val="ctr"/>
        <c:lblOffset val="100"/>
        <c:noMultiLvlLbl val="0"/>
      </c:catAx>
      <c:valAx>
        <c:axId val="9154842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\$#,##0.00;\(\$#,##0.00\);\$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549092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[Monthly Financial Reconciliation Dashboard Final 3.xlsx]Pivot_tables!Monthly Revenue Forecast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baseline="0"/>
              <a:t>Monthly Revenue Forecast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600" b="1" i="0" u="none" strike="noStrike" kern="120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Pivot_tables!$AH$53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trendline>
            <c:spPr>
              <a:ln w="19050" cap="rnd">
                <a:solidFill>
                  <a:schemeClr val="accent2"/>
                </a:solidFill>
              </a:ln>
              <a:effectLst/>
            </c:spPr>
            <c:trendlineType val="linear"/>
            <c:dispRSqr val="0"/>
            <c:dispEq val="0"/>
          </c:trendline>
          <c:cat>
            <c:strRef>
              <c:f>Pivot_tables!$AG$54:$AG$66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Pivot_tables!$AH$54:$AH$66</c:f>
              <c:numCache>
                <c:formatCode>\$#,##0.00;\(\$#,##0.00\);\$#,##0.00</c:formatCode>
                <c:ptCount val="12"/>
                <c:pt idx="0">
                  <c:v>1205369.8300000036</c:v>
                </c:pt>
                <c:pt idx="1">
                  <c:v>1237407.730000007</c:v>
                </c:pt>
                <c:pt idx="2">
                  <c:v>1534929.1899999916</c:v>
                </c:pt>
                <c:pt idx="3">
                  <c:v>1523691.3299999898</c:v>
                </c:pt>
                <c:pt idx="4">
                  <c:v>1695625.9199999932</c:v>
                </c:pt>
                <c:pt idx="5">
                  <c:v>1502028.6600000025</c:v>
                </c:pt>
                <c:pt idx="6">
                  <c:v>1594106.3600000043</c:v>
                </c:pt>
                <c:pt idx="7">
                  <c:v>1631324.0000000095</c:v>
                </c:pt>
                <c:pt idx="8">
                  <c:v>701220.95</c:v>
                </c:pt>
                <c:pt idx="9">
                  <c:v>797607.66999999853</c:v>
                </c:pt>
                <c:pt idx="10">
                  <c:v>1153364.2000000007</c:v>
                </c:pt>
                <c:pt idx="11">
                  <c:v>843097.91000000061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EE3-463B-8240-540896C77B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15486127"/>
        <c:axId val="915492847"/>
      </c:lineChart>
      <c:catAx>
        <c:axId val="9154861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5492847"/>
        <c:crosses val="autoZero"/>
        <c:auto val="1"/>
        <c:lblAlgn val="ctr"/>
        <c:lblOffset val="100"/>
        <c:noMultiLvlLbl val="0"/>
      </c:catAx>
      <c:valAx>
        <c:axId val="9154928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\$#,##0.00;\(\$#,##0.00\);\$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54861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137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workspace/images/cover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A1B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267200" y="1135112"/>
            <a:ext cx="609600" cy="50750"/>
          </a:xfrm>
          <a:prstGeom prst="rect">
            <a:avLst/>
          </a:prstGeom>
          <a:solidFill>
            <a:srgbClr val="E078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541413"/>
            <a:ext cx="8595211" cy="1184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Monthly Financial</a:t>
            </a:r>
            <a:endParaRPr lang="en-US" sz="3600" dirty="0"/>
          </a:p>
          <a:p>
            <a:pPr marL="0" indent="0" algn="ctr">
              <a:lnSpc>
                <a:spcPts val="432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Reconciliation Dashboard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823293" y="2790974"/>
            <a:ext cx="5497413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spcAft>
                <a:spcPts val="3200"/>
              </a:spcAft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Olist E-Commerce Platform | Data Analysis &amp; BI Project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68850" y="3481685"/>
            <a:ext cx="406301" cy="25301"/>
          </a:xfrm>
          <a:prstGeom prst="rect">
            <a:avLst/>
          </a:prstGeom>
          <a:solidFill>
            <a:srgbClr val="E078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272622" y="3760887"/>
            <a:ext cx="2598608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55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Prepared by: Youssef Mostafa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228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2852849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Objective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461641"/>
            <a:ext cx="38100" cy="457200"/>
          </a:xfrm>
          <a:prstGeom prst="roundRect">
            <a:avLst>
              <a:gd name="adj" fmla="val 66667"/>
            </a:avLst>
          </a:prstGeom>
          <a:solidFill>
            <a:srgbClr val="E078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4650" y="1436340"/>
            <a:ext cx="456819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Reconcile Financial Records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4650" y="1722090"/>
            <a:ext cx="4360545" cy="748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7616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Ensure consistency between order prices and payment records across 99K+ transactions to identify discrepancies.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600" y="2618036"/>
            <a:ext cx="38100" cy="457200"/>
          </a:xfrm>
          <a:prstGeom prst="roundRect">
            <a:avLst>
              <a:gd name="adj" fmla="val 66667"/>
            </a:avLst>
          </a:prstGeom>
          <a:solidFill>
            <a:srgbClr val="E078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4650" y="2592735"/>
            <a:ext cx="456819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Monitor Operational KPIs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4650" y="2878485"/>
            <a:ext cx="4360545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7616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Track revenue, profit margins, delivery performance, and order status for actionable business intelligence.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3543449"/>
            <a:ext cx="38100" cy="457200"/>
          </a:xfrm>
          <a:prstGeom prst="roundRect">
            <a:avLst>
              <a:gd name="adj" fmla="val 66667"/>
            </a:avLst>
          </a:prstGeom>
          <a:solidFill>
            <a:srgbClr val="E078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4650" y="3518148"/>
            <a:ext cx="456819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Enable Data-Driven Decisions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4650" y="3803898"/>
            <a:ext cx="4360545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7616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 an interactive Excel dashboard with Power Query, DAX, and PivotTables for deep analysis.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81451" y="1004590"/>
            <a:ext cx="3048000" cy="1112490"/>
          </a:xfrm>
          <a:prstGeom prst="roundRect">
            <a:avLst>
              <a:gd name="adj" fmla="val 11416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17799" y="1233190"/>
            <a:ext cx="3575304" cy="43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99,441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099155" y="1690390"/>
            <a:ext cx="3212592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81451" y="2294781"/>
            <a:ext cx="3048000" cy="1112490"/>
          </a:xfrm>
          <a:prstGeom prst="roundRect">
            <a:avLst>
              <a:gd name="adj" fmla="val 11416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17799" y="2523381"/>
            <a:ext cx="3575304" cy="43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099155" y="2980581"/>
            <a:ext cx="3212592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Months of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81451" y="3584972"/>
            <a:ext cx="3048000" cy="1112490"/>
          </a:xfrm>
          <a:prstGeom prst="roundRect">
            <a:avLst>
              <a:gd name="adj" fmla="val 11416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17799" y="3813572"/>
            <a:ext cx="3575304" cy="43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176879" y="4270772"/>
            <a:ext cx="3057144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 Datasets Merged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37852"/>
          </a:xfrm>
          <a:prstGeom prst="rect">
            <a:avLst/>
          </a:prstGeom>
          <a:solidFill>
            <a:srgbClr val="2228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57001"/>
            <a:ext cx="4502237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Dataset &amp; Data Preparation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641003"/>
            <a:ext cx="391154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 Datasets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600" y="1015603"/>
            <a:ext cx="3555950" cy="711696"/>
          </a:xfrm>
          <a:prstGeom prst="roundRect">
            <a:avLst>
              <a:gd name="adj" fmla="val 142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3412" y="1015603"/>
            <a:ext cx="0" cy="711696"/>
          </a:xfrm>
          <a:prstGeom prst="line">
            <a:avLst/>
          </a:prstGeom>
          <a:noFill/>
          <a:ln w="47625">
            <a:solidFill>
              <a:srgbClr val="E078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4926" y="1168003"/>
            <a:ext cx="346821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olist_orders_dataset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4926" y="1393329"/>
            <a:ext cx="346821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99,441 rows | Order IDs, dates, status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54250"/>
            <a:ext cx="3555950" cy="711696"/>
          </a:xfrm>
          <a:prstGeom prst="roundRect">
            <a:avLst>
              <a:gd name="adj" fmla="val 142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854250"/>
            <a:ext cx="0" cy="711696"/>
          </a:xfrm>
          <a:prstGeom prst="line">
            <a:avLst/>
          </a:prstGeom>
          <a:noFill/>
          <a:ln w="47625">
            <a:solidFill>
              <a:srgbClr val="E078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926" y="2006650"/>
            <a:ext cx="346821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olist_order_items_dataset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4926" y="2231975"/>
            <a:ext cx="346821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112,650 rows | Prices, freight, products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600" y="2692896"/>
            <a:ext cx="3555950" cy="711696"/>
          </a:xfrm>
          <a:prstGeom prst="roundRect">
            <a:avLst>
              <a:gd name="adj" fmla="val 142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692896"/>
            <a:ext cx="0" cy="711696"/>
          </a:xfrm>
          <a:prstGeom prst="line">
            <a:avLst/>
          </a:prstGeom>
          <a:noFill/>
          <a:ln w="47625">
            <a:solidFill>
              <a:srgbClr val="E078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926" y="2845296"/>
            <a:ext cx="346821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olist_order_payments_dataset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4926" y="3070622"/>
            <a:ext cx="346821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103,887 rows | Payment values, types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68701" y="641003"/>
            <a:ext cx="391154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Power Query Steps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68701" y="1015603"/>
            <a:ext cx="3555950" cy="893266"/>
          </a:xfrm>
          <a:prstGeom prst="roundRect">
            <a:avLst>
              <a:gd name="adj" fmla="val 1137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46402" y="1168003"/>
            <a:ext cx="352060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Group &amp; Order Items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46402" y="1393329"/>
            <a:ext cx="3360576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Group by order_id: SUM price, SUM freight, COUNT Order  items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08810" y="2040219"/>
            <a:ext cx="3555950" cy="893266"/>
          </a:xfrm>
          <a:prstGeom prst="roundRect">
            <a:avLst>
              <a:gd name="adj" fmla="val 1137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46402" y="2188220"/>
            <a:ext cx="352060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Group  Order Payments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46402" y="2413546"/>
            <a:ext cx="3360576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Group by </a:t>
            </a:r>
            <a:r>
              <a:rPr lang="en-US" sz="1100" dirty="0" err="1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order_id</a:t>
            </a: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: SUM Payment  value, COUNT Payment sequentials, 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68701" y="3056037"/>
            <a:ext cx="3555950" cy="893266"/>
          </a:xfrm>
          <a:prstGeom prst="roundRect">
            <a:avLst>
              <a:gd name="adj" fmla="val 1137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46402" y="3208437"/>
            <a:ext cx="352060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Merge Queries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46402" y="3433763"/>
            <a:ext cx="3360576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Left join orders with Order items and  Order payments on order_id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68701" y="4076254"/>
            <a:ext cx="3555950" cy="711696"/>
          </a:xfrm>
          <a:prstGeom prst="roundRect">
            <a:avLst>
              <a:gd name="adj" fmla="val 142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546402" y="4228654"/>
            <a:ext cx="352060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 Clean &amp; Validate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46402" y="4453979"/>
            <a:ext cx="3520604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Remove nulls, validate dates, check duplicates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workspace/images/dark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5795" y="0"/>
            <a:ext cx="9366319" cy="5219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447" y="127329"/>
            <a:ext cx="5488245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DAX Measures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29410" y="627016"/>
            <a:ext cx="507950" cy="38100"/>
          </a:xfrm>
          <a:prstGeom prst="rect">
            <a:avLst/>
          </a:prstGeom>
          <a:solidFill>
            <a:srgbClr val="E078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968276"/>
            <a:ext cx="412490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6826" y="1485751"/>
            <a:ext cx="349964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6826" y="1736527"/>
            <a:ext cx="3340574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6826" y="2827139"/>
            <a:ext cx="369053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6826" y="3077914"/>
            <a:ext cx="3340574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3324" y="797950"/>
            <a:ext cx="391154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DAX Measures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24886" y="1156422"/>
            <a:ext cx="3555950" cy="846928"/>
          </a:xfrm>
          <a:prstGeom prst="roundRect">
            <a:avLst>
              <a:gd name="adj" fmla="val 1633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93826" y="1230544"/>
            <a:ext cx="369053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C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Revenue</a:t>
            </a:r>
            <a:endParaRPr lang="en-US" sz="1200" dirty="0">
              <a:solidFill>
                <a:srgbClr val="FFC000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662423" y="1527175"/>
            <a:ext cx="34996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</a:t>
            </a:r>
            <a:r>
              <a:rPr lang="en-US" sz="1100" dirty="0">
                <a:solidFill>
                  <a:srgbClr val="00B050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</a:t>
            </a: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(The_dataset[Total</a:t>
            </a:r>
            <a:r>
              <a:rPr lang="ar-EG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Price])+The</a:t>
            </a:r>
            <a:r>
              <a:rPr lang="ar-EG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dataset</a:t>
            </a:r>
            <a:endParaRPr lang="ar-EG" sz="1100" dirty="0">
              <a:solidFill>
                <a:srgbClr val="FFFFFF">
                  <a:alpha val="60000"/>
                </a:srgbClr>
              </a:solidFill>
              <a:latin typeface="Century Gothic" pitchFamily="34" charset="0"/>
              <a:ea typeface="Century Gothic" pitchFamily="34" charset="-122"/>
              <a:cs typeface="Century Gothic" pitchFamily="34" charset="-12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</a:t>
            </a:r>
            <a:r>
              <a:rPr lang="en-US" sz="1100" dirty="0">
                <a:solidFill>
                  <a:srgbClr val="00B050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</a:t>
            </a:r>
            <a:r>
              <a:rPr lang="ar-EG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fright</a:t>
            </a:r>
            <a:r>
              <a:rPr lang="ar-EG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value]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24886" y="2141740"/>
            <a:ext cx="3633180" cy="771772"/>
          </a:xfrm>
          <a:prstGeom prst="roundRect">
            <a:avLst>
              <a:gd name="adj" fmla="val 1633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93826" y="2264929"/>
            <a:ext cx="3499649" cy="190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C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Expected Revenue</a:t>
            </a:r>
            <a:endParaRPr lang="en-US" sz="1200" dirty="0">
              <a:solidFill>
                <a:srgbClr val="FFC00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662423" y="2498880"/>
            <a:ext cx="34996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</a:t>
            </a:r>
            <a:r>
              <a:rPr lang="en-US" sz="1100" dirty="0">
                <a:solidFill>
                  <a:srgbClr val="00B050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</a:t>
            </a: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(The dataset[Total</a:t>
            </a:r>
            <a:r>
              <a:rPr lang="ar-EG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Price])+The</a:t>
            </a:r>
            <a:r>
              <a:rPr lang="ar-EG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dataset</a:t>
            </a:r>
            <a:endParaRPr lang="ar-EG" sz="1100" dirty="0">
              <a:solidFill>
                <a:srgbClr val="FFFFFF">
                  <a:alpha val="60000"/>
                </a:srgbClr>
              </a:solidFill>
              <a:latin typeface="Century Gothic" pitchFamily="34" charset="0"/>
              <a:ea typeface="Century Gothic" pitchFamily="34" charset="-122"/>
              <a:cs typeface="Century Gothic" pitchFamily="34" charset="-12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</a:t>
            </a:r>
            <a:r>
              <a:rPr lang="en-US" sz="1100" dirty="0">
                <a:solidFill>
                  <a:srgbClr val="00B050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</a:t>
            </a:r>
            <a:r>
              <a:rPr lang="ar-EG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fright</a:t>
            </a:r>
            <a:r>
              <a:rPr lang="ar-EG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value] &lt;&gt; "canceled" &amp;&amp;&lt;&gt;"unavailable"</a:t>
            </a:r>
            <a:endParaRPr lang="en-US" sz="1100" dirty="0"/>
          </a:p>
          <a:p>
            <a:pPr marL="0" indent="0" algn="l">
              <a:buNone/>
            </a:pPr>
            <a:r>
              <a:rPr lang="ar-EG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24886" y="3093689"/>
            <a:ext cx="3555950" cy="690996"/>
          </a:xfrm>
          <a:prstGeom prst="roundRect">
            <a:avLst>
              <a:gd name="adj" fmla="val 1633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80683" y="3212397"/>
            <a:ext cx="349964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C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Revenue Reconciliation %</a:t>
            </a:r>
            <a:endParaRPr lang="en-US" sz="1200" dirty="0">
              <a:solidFill>
                <a:srgbClr val="FFC000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629410" y="3437586"/>
            <a:ext cx="34996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</a:t>
            </a:r>
            <a:r>
              <a:rPr lang="en-US" sz="1100" dirty="0">
                <a:solidFill>
                  <a:srgbClr val="00B050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DIVIDE</a:t>
            </a: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([Total Payments Received],[Expected Revenue] =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24886" y="3893315"/>
            <a:ext cx="3555950" cy="622102"/>
          </a:xfrm>
          <a:prstGeom prst="roundRect">
            <a:avLst>
              <a:gd name="adj" fmla="val 1633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80683" y="3993044"/>
            <a:ext cx="369053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C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Net Profit</a:t>
            </a:r>
            <a:endParaRPr lang="en-US" sz="1200" dirty="0">
              <a:solidFill>
                <a:srgbClr val="FFC000"/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637751" y="4275447"/>
            <a:ext cx="34996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=[Total Revenue]-</a:t>
            </a:r>
            <a:r>
              <a:rPr lang="en-US" sz="1100" dirty="0">
                <a:solidFill>
                  <a:srgbClr val="00B050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</a:t>
            </a: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(Freight)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24886" y="4588257"/>
            <a:ext cx="3555950" cy="539831"/>
          </a:xfrm>
          <a:prstGeom prst="roundRect">
            <a:avLst>
              <a:gd name="adj" fmla="val 1633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93825" y="4655141"/>
            <a:ext cx="369053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C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Gross</a:t>
            </a:r>
            <a:r>
              <a:rPr lang="en-US" sz="1200" b="1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200" b="1" dirty="0">
                <a:solidFill>
                  <a:srgbClr val="FFC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Margin</a:t>
            </a:r>
            <a:r>
              <a:rPr lang="en-US" sz="1200" b="1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62423" y="4917046"/>
            <a:ext cx="34996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</a:t>
            </a:r>
            <a:r>
              <a:rPr lang="en-US" sz="1100" dirty="0">
                <a:solidFill>
                  <a:srgbClr val="00B050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DIVIDE</a:t>
            </a: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([Net Profit],[Total Revenue])</a:t>
            </a:r>
            <a:endParaRPr lang="en-US" sz="1100" dirty="0"/>
          </a:p>
        </p:txBody>
      </p:sp>
      <p:sp>
        <p:nvSpPr>
          <p:cNvPr id="9" name="Text 22">
            <a:extLst>
              <a:ext uri="{FF2B5EF4-FFF2-40B4-BE49-F238E27FC236}">
                <a16:creationId xmlns:a16="http://schemas.microsoft.com/office/drawing/2014/main" id="{141B75CB-7D5F-73BB-21FF-8EEACF067CAD}"/>
              </a:ext>
            </a:extLst>
          </p:cNvPr>
          <p:cNvSpPr/>
          <p:nvPr/>
        </p:nvSpPr>
        <p:spPr>
          <a:xfrm>
            <a:off x="4487365" y="3138098"/>
            <a:ext cx="3555950" cy="855080"/>
          </a:xfrm>
          <a:prstGeom prst="roundRect">
            <a:avLst>
              <a:gd name="adj" fmla="val 1633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Order Value</a:t>
            </a:r>
            <a:endParaRPr lang="en-US" sz="1200" b="1" dirty="0">
              <a:solidFill>
                <a:srgbClr val="F5A623"/>
              </a:solidFill>
              <a:latin typeface="Century Gothic" pitchFamily="34" charset="0"/>
            </a:endParaRPr>
          </a:p>
          <a:p>
            <a:pPr>
              <a:spcAft>
                <a:spcPts val="200"/>
              </a:spcAft>
              <a:defRPr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</a:t>
            </a:r>
            <a:r>
              <a:rPr lang="en-US" sz="1200" dirty="0">
                <a:solidFill>
                  <a:srgbClr val="00B050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DIVIDE</a:t>
            </a: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([Total Revenue],</a:t>
            </a:r>
            <a:r>
              <a:rPr lang="en-US" sz="1200" dirty="0">
                <a:solidFill>
                  <a:srgbClr val="00B050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DISTINCTCOUNT</a:t>
            </a: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(The dataset [order id]),0)</a:t>
            </a:r>
            <a:endParaRPr lang="en-US" sz="1200" b="1" dirty="0">
              <a:solidFill>
                <a:srgbClr val="F5A623"/>
              </a:solidFill>
              <a:latin typeface="Century Gothic" pitchFamily="34" charset="0"/>
            </a:endParaRPr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392CA745-D8F6-5555-CB50-5F4AC2CFC599}"/>
              </a:ext>
            </a:extLst>
          </p:cNvPr>
          <p:cNvSpPr/>
          <p:nvPr/>
        </p:nvSpPr>
        <p:spPr>
          <a:xfrm>
            <a:off x="4487365" y="4076754"/>
            <a:ext cx="3555950" cy="1037527"/>
          </a:xfrm>
          <a:prstGeom prst="roundRect">
            <a:avLst>
              <a:gd name="adj" fmla="val 1633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Delivered %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</a:t>
            </a:r>
            <a:r>
              <a:rPr lang="en-US" sz="1200" dirty="0">
                <a:solidFill>
                  <a:srgbClr val="00B050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DIVIDE</a:t>
            </a: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</a:t>
            </a:r>
            <a:r>
              <a:rPr lang="en-US" sz="1200" dirty="0">
                <a:solidFill>
                  <a:srgbClr val="00B050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CALCULATE</a:t>
            </a: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</a:t>
            </a:r>
            <a:r>
              <a:rPr lang="en-US" sz="1200" dirty="0">
                <a:solidFill>
                  <a:srgbClr val="00B050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DISTINCTCOUNT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(The-dataset[order-id]),The-dataset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[order-status]="delivered"),</a:t>
            </a:r>
            <a:r>
              <a:rPr lang="en-US" sz="1200" dirty="0">
                <a:solidFill>
                  <a:srgbClr val="00B050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DISTINCTCOUNT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(The-dataset[order-id]),0)</a:t>
            </a:r>
            <a:endParaRPr lang="en-US" sz="1200" b="1" dirty="0">
              <a:solidFill>
                <a:srgbClr val="F5A623"/>
              </a:solidFill>
              <a:latin typeface="Century Gothic" pitchFamily="34" charset="0"/>
            </a:endParaRPr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73C32C05-6492-9223-1D7B-13057B310860}"/>
              </a:ext>
            </a:extLst>
          </p:cNvPr>
          <p:cNvSpPr/>
          <p:nvPr/>
        </p:nvSpPr>
        <p:spPr>
          <a:xfrm>
            <a:off x="4487364" y="2100086"/>
            <a:ext cx="3555950" cy="855080"/>
          </a:xfrm>
          <a:prstGeom prst="roundRect">
            <a:avLst>
              <a:gd name="adj" fmla="val 1633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Payment Difference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</a:t>
            </a:r>
            <a:r>
              <a:rPr lang="en-US" sz="1200" dirty="0">
                <a:solidFill>
                  <a:srgbClr val="00B050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</a:t>
            </a: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(The dataset[Total-payment-value]) - </a:t>
            </a:r>
            <a:r>
              <a:rPr lang="en-US" sz="1200" dirty="0">
                <a:solidFill>
                  <a:srgbClr val="00B050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SUMX</a:t>
            </a: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(The-dataset , The-dataset[Total Price] +[Sum fright value])</a:t>
            </a:r>
            <a:endParaRPr lang="en-US" sz="1200" b="1" dirty="0">
              <a:solidFill>
                <a:srgbClr val="F5A623"/>
              </a:solidFill>
              <a:latin typeface="Century Gothic" pitchFamily="34" charset="0"/>
            </a:endParaRPr>
          </a:p>
        </p:txBody>
      </p:sp>
      <p:sp>
        <p:nvSpPr>
          <p:cNvPr id="6" name="Text 22">
            <a:extLst>
              <a:ext uri="{FF2B5EF4-FFF2-40B4-BE49-F238E27FC236}">
                <a16:creationId xmlns:a16="http://schemas.microsoft.com/office/drawing/2014/main" id="{DD30CC43-D7F5-00BF-CB24-F25BB0911886}"/>
              </a:ext>
            </a:extLst>
          </p:cNvPr>
          <p:cNvSpPr/>
          <p:nvPr/>
        </p:nvSpPr>
        <p:spPr>
          <a:xfrm>
            <a:off x="4487364" y="1102863"/>
            <a:ext cx="3555950" cy="855080"/>
          </a:xfrm>
          <a:prstGeom prst="roundRect">
            <a:avLst>
              <a:gd name="adj" fmla="val 1633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Payments Received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</a:t>
            </a:r>
            <a:r>
              <a:rPr lang="en-US" sz="1200" dirty="0">
                <a:solidFill>
                  <a:srgbClr val="00B050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=sum</a:t>
            </a:r>
            <a:r>
              <a:rPr lang="en-US" sz="1200" dirty="0">
                <a:solidFill>
                  <a:schemeClr val="bg1">
                    <a:lumMod val="95000"/>
                    <a:alpha val="60000"/>
                  </a:scheme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(The dataset[Total-payment-value])</a:t>
            </a:r>
            <a:endParaRPr lang="en-US" sz="1200" b="1" dirty="0">
              <a:solidFill>
                <a:schemeClr val="bg1">
                  <a:lumMod val="95000"/>
                  <a:alpha val="60000"/>
                </a:schemeClr>
              </a:solidFill>
              <a:latin typeface="Century Gothic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228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2501594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Financial KPIs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581299"/>
            <a:ext cx="2438400" cy="1257151"/>
          </a:xfrm>
          <a:prstGeom prst="roundRect">
            <a:avLst>
              <a:gd name="adj" fmla="val 10102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2819400"/>
            <a:ext cx="2438400" cy="0"/>
          </a:xfrm>
          <a:prstGeom prst="line">
            <a:avLst/>
          </a:prstGeom>
          <a:noFill/>
          <a:ln w="38100">
            <a:solidFill>
              <a:srgbClr val="E078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7341" y="1809899"/>
            <a:ext cx="25829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851" y="2013049"/>
            <a:ext cx="2707898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R$15.4M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9831" y="2419350"/>
            <a:ext cx="24579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 of order prices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581299"/>
            <a:ext cx="2438400" cy="1257151"/>
          </a:xfrm>
          <a:prstGeom prst="roundRect">
            <a:avLst>
              <a:gd name="adj" fmla="val 10102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00400" y="2819400"/>
            <a:ext cx="2438400" cy="0"/>
          </a:xfrm>
          <a:prstGeom prst="line">
            <a:avLst/>
          </a:prstGeom>
          <a:noFill/>
          <a:ln w="38100">
            <a:solidFill>
              <a:srgbClr val="E078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90631" y="1809899"/>
            <a:ext cx="24579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Expected Revenue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65651" y="2013049"/>
            <a:ext cx="2707898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R$15.7M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190631" y="2419350"/>
            <a:ext cx="24579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 of payment values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91200" y="1581299"/>
            <a:ext cx="2438400" cy="1257151"/>
          </a:xfrm>
          <a:prstGeom prst="roundRect">
            <a:avLst>
              <a:gd name="adj" fmla="val 10102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791200" y="2819400"/>
            <a:ext cx="2438400" cy="0"/>
          </a:xfrm>
          <a:prstGeom prst="line">
            <a:avLst/>
          </a:prstGeom>
          <a:noFill/>
          <a:ln w="38100">
            <a:solidFill>
              <a:srgbClr val="E078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81431" y="1809899"/>
            <a:ext cx="24579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Reconciliation 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73131" y="2013049"/>
            <a:ext cx="2874538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101.7%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781431" y="2419350"/>
            <a:ext cx="24579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Payments exceed by 1.7%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600" y="3016151"/>
            <a:ext cx="2438400" cy="1257151"/>
          </a:xfrm>
          <a:prstGeom prst="roundRect">
            <a:avLst>
              <a:gd name="adj" fmla="val 10102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09600" y="4254252"/>
            <a:ext cx="2438400" cy="0"/>
          </a:xfrm>
          <a:prstGeom prst="line">
            <a:avLst/>
          </a:prstGeom>
          <a:noFill/>
          <a:ln w="38100">
            <a:solidFill>
              <a:srgbClr val="E078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9831" y="3244751"/>
            <a:ext cx="24579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Payments Received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4851" y="3447901"/>
            <a:ext cx="2707898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R$16.0M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99831" y="3854202"/>
            <a:ext cx="24579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transactions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3016151"/>
            <a:ext cx="2438400" cy="1257151"/>
          </a:xfrm>
          <a:prstGeom prst="roundRect">
            <a:avLst>
              <a:gd name="adj" fmla="val 10102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200400" y="4254252"/>
            <a:ext cx="2438400" cy="0"/>
          </a:xfrm>
          <a:prstGeom prst="line">
            <a:avLst/>
          </a:prstGeom>
          <a:noFill/>
          <a:ln w="38100">
            <a:solidFill>
              <a:srgbClr val="E078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28141" y="3244751"/>
            <a:ext cx="25829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Net Profit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65651" y="3447901"/>
            <a:ext cx="2707898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R$11.3M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190631" y="3854202"/>
            <a:ext cx="24579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Revenue minus freight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91200" y="3016151"/>
            <a:ext cx="2438400" cy="1257151"/>
          </a:xfrm>
          <a:prstGeom prst="roundRect">
            <a:avLst>
              <a:gd name="adj" fmla="val 10102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791200" y="4254252"/>
            <a:ext cx="2438400" cy="0"/>
          </a:xfrm>
          <a:prstGeom prst="line">
            <a:avLst/>
          </a:prstGeom>
          <a:noFill/>
          <a:ln w="38100">
            <a:solidFill>
              <a:srgbClr val="E078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8941" y="3244751"/>
            <a:ext cx="25829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3131" y="3447901"/>
            <a:ext cx="2874538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73.5%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718941" y="3854202"/>
            <a:ext cx="25829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Healthy margin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228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2589913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Order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88802"/>
            <a:ext cx="586740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Orders by Month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600" y="1165027"/>
            <a:ext cx="5334000" cy="3622923"/>
          </a:xfrm>
          <a:prstGeom prst="roundRect">
            <a:avLst>
              <a:gd name="adj" fmla="val 2103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146750" y="933896"/>
            <a:ext cx="2158901" cy="837902"/>
          </a:xfrm>
          <a:prstGeom prst="roundRect">
            <a:avLst>
              <a:gd name="adj" fmla="val 12126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981786" y="1111597"/>
            <a:ext cx="24888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99,441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108031" y="1441698"/>
            <a:ext cx="22363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46750" y="1924199"/>
            <a:ext cx="2158901" cy="837902"/>
          </a:xfrm>
          <a:prstGeom prst="roundRect">
            <a:avLst>
              <a:gd name="adj" fmla="val 12126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053926" y="2101900"/>
            <a:ext cx="23445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R$155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162136" y="2432000"/>
            <a:ext cx="21281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46750" y="2914501"/>
            <a:ext cx="2158901" cy="837902"/>
          </a:xfrm>
          <a:prstGeom prst="roundRect">
            <a:avLst>
              <a:gd name="adj" fmla="val 12126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981786" y="3092202"/>
            <a:ext cx="24888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97%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108031" y="3422303"/>
            <a:ext cx="22363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Delivered Rate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46750" y="3904804"/>
            <a:ext cx="2158901" cy="837902"/>
          </a:xfrm>
          <a:prstGeom prst="roundRect">
            <a:avLst>
              <a:gd name="adj" fmla="val 12126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981786" y="4082504"/>
            <a:ext cx="24888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E74C3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0.6%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162136" y="4412605"/>
            <a:ext cx="21281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Cancellation Rate</a:t>
            </a:r>
            <a:endParaRPr lang="en-US" sz="1100" dirty="0"/>
          </a:p>
        </p:txBody>
      </p:sp>
      <p:graphicFrame>
        <p:nvGraphicFramePr>
          <p:cNvPr id="6" name="Total Orders by Month ">
            <a:extLst>
              <a:ext uri="{FF2B5EF4-FFF2-40B4-BE49-F238E27FC236}">
                <a16:creationId xmlns:a16="http://schemas.microsoft.com/office/drawing/2014/main" id="{1D94698A-5677-402D-BE8E-F128C4C8D5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8237192"/>
              </p:ext>
            </p:extLst>
          </p:nvPr>
        </p:nvGraphicFramePr>
        <p:xfrm>
          <a:off x="745526" y="1412537"/>
          <a:ext cx="5110016" cy="3164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228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279462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Delivery Insights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88802"/>
            <a:ext cx="2438400" cy="984052"/>
          </a:xfrm>
          <a:prstGeom prst="roundRect">
            <a:avLst>
              <a:gd name="adj" fmla="val 129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6652" y="1091952"/>
            <a:ext cx="2804297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74C3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7,827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9861" y="1498253"/>
            <a:ext cx="239787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Late Deliveries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888802"/>
            <a:ext cx="2438400" cy="984052"/>
          </a:xfrm>
          <a:prstGeom prst="roundRect">
            <a:avLst>
              <a:gd name="adj" fmla="val 129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017452" y="1091952"/>
            <a:ext cx="2804297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10.6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20661" y="1498253"/>
            <a:ext cx="239787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Avg Delay (Days)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91200" y="888802"/>
            <a:ext cx="2438400" cy="984052"/>
          </a:xfrm>
          <a:prstGeom prst="roundRect">
            <a:avLst>
              <a:gd name="adj" fmla="val 129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608252" y="1091952"/>
            <a:ext cx="2804297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7.9%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811461" y="1498253"/>
            <a:ext cx="239787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Late Delivery Rate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2025253"/>
            <a:ext cx="7924800" cy="2762696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15415445-D88A-4156-A0F3-C81A197121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9079932"/>
              </p:ext>
            </p:extLst>
          </p:nvPr>
        </p:nvGraphicFramePr>
        <p:xfrm>
          <a:off x="609599" y="2309297"/>
          <a:ext cx="7982857" cy="2194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workspace/images/dark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355550"/>
            <a:ext cx="4379826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Profitability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09600" y="866626"/>
            <a:ext cx="507950" cy="38100"/>
          </a:xfrm>
          <a:prstGeom prst="rect">
            <a:avLst/>
          </a:prstGeom>
          <a:solidFill>
            <a:srgbClr val="E078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1427857"/>
            <a:ext cx="3301901" cy="1418481"/>
          </a:xfrm>
          <a:prstGeom prst="roundRect">
            <a:avLst>
              <a:gd name="adj" fmla="val 895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6768" y="1742182"/>
            <a:ext cx="36075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R$11.3M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40020" y="2300883"/>
            <a:ext cx="3441061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Net Profit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9600" y="3049488"/>
            <a:ext cx="3301901" cy="1418481"/>
          </a:xfrm>
          <a:prstGeom prst="roundRect">
            <a:avLst>
              <a:gd name="adj" fmla="val 895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45766" y="3363813"/>
            <a:ext cx="3829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73.5%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40020" y="3922514"/>
            <a:ext cx="3441061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Gross Margin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216301" y="1158627"/>
            <a:ext cx="4317950" cy="3578572"/>
          </a:xfrm>
          <a:prstGeom prst="roundRect">
            <a:avLst>
              <a:gd name="adj" fmla="val 354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2" name="Net Profit Trend">
            <a:extLst>
              <a:ext uri="{FF2B5EF4-FFF2-40B4-BE49-F238E27FC236}">
                <a16:creationId xmlns:a16="http://schemas.microsoft.com/office/drawing/2014/main" id="{7E072C71-04BC-4161-B12F-923E16712B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2592600"/>
              </p:ext>
            </p:extLst>
          </p:nvPr>
        </p:nvGraphicFramePr>
        <p:xfrm>
          <a:off x="4244914" y="1284688"/>
          <a:ext cx="4289337" cy="3326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228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3531877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Revenue Forecasting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0681" y="888802"/>
            <a:ext cx="7924800" cy="2781895"/>
          </a:xfrm>
          <a:prstGeom prst="roundRect">
            <a:avLst>
              <a:gd name="adj" fmla="val 3652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3823097"/>
            <a:ext cx="2438400" cy="964853"/>
          </a:xfrm>
          <a:prstGeom prst="roundRect">
            <a:avLst>
              <a:gd name="adj" fmla="val 10530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633412" y="3823097"/>
            <a:ext cx="0" cy="964853"/>
          </a:xfrm>
          <a:prstGeom prst="line">
            <a:avLst/>
          </a:prstGeom>
          <a:noFill/>
          <a:ln w="47625">
            <a:solidFill>
              <a:srgbClr val="E078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0681" y="4000798"/>
            <a:ext cx="25238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Peak Month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29620" y="4203948"/>
            <a:ext cx="264598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Nov 2017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1742" y="4457849"/>
            <a:ext cx="24017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R$1.153M Revenue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00400" y="3823097"/>
            <a:ext cx="2438400" cy="964853"/>
          </a:xfrm>
          <a:prstGeom prst="roundRect">
            <a:avLst>
              <a:gd name="adj" fmla="val 10530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224213" y="3823097"/>
            <a:ext cx="0" cy="964853"/>
          </a:xfrm>
          <a:prstGeom prst="line">
            <a:avLst/>
          </a:prstGeom>
          <a:noFill/>
          <a:ln w="47625">
            <a:solidFill>
              <a:srgbClr val="E078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81481" y="4000798"/>
            <a:ext cx="25238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Growth Trend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039005" y="4203948"/>
            <a:ext cx="28088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+722%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242542" y="4457849"/>
            <a:ext cx="24017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 2017 to Apr 2018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91200" y="3823097"/>
            <a:ext cx="2438400" cy="964853"/>
          </a:xfrm>
          <a:prstGeom prst="roundRect">
            <a:avLst>
              <a:gd name="adj" fmla="val 10530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5815013" y="3823097"/>
            <a:ext cx="0" cy="964853"/>
          </a:xfrm>
          <a:prstGeom prst="line">
            <a:avLst/>
          </a:prstGeom>
          <a:noFill/>
          <a:ln w="47625">
            <a:solidFill>
              <a:srgbClr val="E078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11220" y="4000798"/>
            <a:ext cx="26459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Forecast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711220" y="4203948"/>
            <a:ext cx="264598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E74C3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Stable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833342" y="4457849"/>
            <a:ext cx="24017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Revenue at ~R$1M/mo</a:t>
            </a:r>
            <a:endParaRPr lang="en-US" sz="1100" dirty="0"/>
          </a:p>
        </p:txBody>
      </p:sp>
      <p:graphicFrame>
        <p:nvGraphicFramePr>
          <p:cNvPr id="5" name="Monthly Revenue Forecast">
            <a:extLst>
              <a:ext uri="{FF2B5EF4-FFF2-40B4-BE49-F238E27FC236}">
                <a16:creationId xmlns:a16="http://schemas.microsoft.com/office/drawing/2014/main" id="{478862AC-2A7C-46E8-BEDF-E4BF65C923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5871213"/>
              </p:ext>
            </p:extLst>
          </p:nvPr>
        </p:nvGraphicFramePr>
        <p:xfrm>
          <a:off x="609600" y="1041202"/>
          <a:ext cx="8009106" cy="26122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228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5220333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Interactive Dashboard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37310"/>
            <a:ext cx="3555950" cy="1452414"/>
          </a:xfrm>
          <a:prstGeom prst="roundRect">
            <a:avLst>
              <a:gd name="adj" fmla="val 69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1091952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078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0268" y="1172914"/>
            <a:ext cx="146233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5251" y="1163389"/>
            <a:ext cx="86638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Slicers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750" y="1549152"/>
            <a:ext cx="3307132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7616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Dynamic filters for Order Status, Payment Type, and Month. Click to filter all PivotTables and charts simultaneously.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68707" y="929348"/>
            <a:ext cx="3555950" cy="1452414"/>
          </a:xfrm>
          <a:prstGeom prst="roundRect">
            <a:avLst>
              <a:gd name="adj" fmla="val 69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32340" y="106552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078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61207" y="1137719"/>
            <a:ext cx="146233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10597" y="1172914"/>
            <a:ext cx="106663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Timeline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12482" y="1549399"/>
            <a:ext cx="3307132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7616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Date-based control for scrolling months and quarters. Zoom between monthly and quarterly granularity.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87575" y="2633290"/>
            <a:ext cx="3555950" cy="1452414"/>
          </a:xfrm>
          <a:prstGeom prst="roundRect">
            <a:avLst>
              <a:gd name="adj" fmla="val 69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04956" y="2834878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078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23562" y="2917365"/>
            <a:ext cx="146233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64691" y="2928355"/>
            <a:ext cx="125953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Drill-Down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36393" y="3314641"/>
            <a:ext cx="3307132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7616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Double-click any PivotTable cell to drill into underlying order details from summary to transaction level.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69795" y="2652235"/>
            <a:ext cx="263671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83086" y="3185530"/>
            <a:ext cx="3307132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228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372591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Business Insights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88802"/>
            <a:ext cx="391154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Financial Observations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1225302"/>
            <a:ext cx="3555950" cy="1074837"/>
          </a:xfrm>
          <a:prstGeom prst="roundRect">
            <a:avLst>
              <a:gd name="adj" fmla="val 9453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3412" y="1225302"/>
            <a:ext cx="0" cy="1074837"/>
          </a:xfrm>
          <a:prstGeom prst="line">
            <a:avLst/>
          </a:prstGeom>
          <a:noFill/>
          <a:ln w="47625">
            <a:solidFill>
              <a:srgbClr val="E078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4926" y="1377702"/>
            <a:ext cx="346821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Revenue Reconciliation Surplus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4926" y="1603028"/>
            <a:ext cx="3310570" cy="58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57616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Payments exceed item prices by 1.7%, suggesting additional fees or multi-payment aggregation effects.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427089"/>
            <a:ext cx="3555950" cy="893266"/>
          </a:xfrm>
          <a:prstGeom prst="roundRect">
            <a:avLst>
              <a:gd name="adj" fmla="val 11374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2427089"/>
            <a:ext cx="0" cy="893266"/>
          </a:xfrm>
          <a:prstGeom prst="line">
            <a:avLst/>
          </a:prstGeom>
          <a:noFill/>
          <a:ln w="47625">
            <a:solidFill>
              <a:srgbClr val="E078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926" y="2579489"/>
            <a:ext cx="346821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Strong Gross Margin of 73.5%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4926" y="2804815"/>
            <a:ext cx="3310570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57616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Freight costs are only 26.5% of revenue, indicating efficient logistics and healthy profitability.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600" y="3447306"/>
            <a:ext cx="3555950" cy="893266"/>
          </a:xfrm>
          <a:prstGeom prst="roundRect">
            <a:avLst>
              <a:gd name="adj" fmla="val 11374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3447306"/>
            <a:ext cx="0" cy="893266"/>
          </a:xfrm>
          <a:prstGeom prst="line">
            <a:avLst/>
          </a:prstGeom>
          <a:noFill/>
          <a:ln w="47625">
            <a:solidFill>
              <a:srgbClr val="E078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926" y="3599706"/>
            <a:ext cx="346821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Revenue Plateau in 2018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4926" y="3825032"/>
            <a:ext cx="3310570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57616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After 722% growth, revenue stabilized around R$1M/month, suggesting market saturation.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68701" y="888802"/>
            <a:ext cx="391154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Operational Insights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94027" y="1377702"/>
            <a:ext cx="346821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94027" y="1603028"/>
            <a:ext cx="3310570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68701" y="1299053"/>
            <a:ext cx="3555950" cy="893266"/>
          </a:xfrm>
          <a:prstGeom prst="roundRect">
            <a:avLst>
              <a:gd name="adj" fmla="val 11374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392513" y="1298050"/>
            <a:ext cx="0" cy="893266"/>
          </a:xfrm>
          <a:prstGeom prst="line">
            <a:avLst/>
          </a:prstGeom>
          <a:noFill/>
          <a:ln w="47625">
            <a:solidFill>
              <a:srgbClr val="E078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57192" y="1373113"/>
            <a:ext cx="346821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Late Delivery Concentration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57192" y="1610975"/>
            <a:ext cx="3310570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57616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7,827 late deliveries with Mar 2018 peak (1,496). Avg delay of 10.6 days needs improvement.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92513" y="2427089"/>
            <a:ext cx="3555950" cy="893266"/>
          </a:xfrm>
          <a:prstGeom prst="roundRect">
            <a:avLst>
              <a:gd name="adj" fmla="val 11374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392513" y="2427089"/>
            <a:ext cx="0" cy="893266"/>
          </a:xfrm>
          <a:prstGeom prst="line">
            <a:avLst/>
          </a:prstGeom>
          <a:noFill/>
          <a:ln w="47625">
            <a:solidFill>
              <a:srgbClr val="E078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7192" y="2574556"/>
            <a:ext cx="346821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97% Delivery Success Rate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94027" y="2873722"/>
            <a:ext cx="3310570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57616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Only 0.6% cancellation rate. Late deliveries need attention for customer satisfaction.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workspace/images/cover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A1B">
              <a:alpha val="6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457706" y="355550"/>
            <a:ext cx="2228588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317950" y="828526"/>
            <a:ext cx="507950" cy="38100"/>
          </a:xfrm>
          <a:prstGeom prst="rect">
            <a:avLst/>
          </a:prstGeom>
          <a:solidFill>
            <a:srgbClr val="E078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1069777"/>
            <a:ext cx="2438400" cy="3343573"/>
          </a:xfrm>
          <a:prstGeom prst="roundRect">
            <a:avLst>
              <a:gd name="adj" fmla="val 520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96826" y="1282452"/>
            <a:ext cx="243545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Summary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6826" y="1583978"/>
            <a:ext cx="2167146" cy="1612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Built a comprehensive financial reconciliation dashboard analyzing 99K+ orders, reconciling R$15.4M revenue against R$16M payments with full variance analysis.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0" y="1069777"/>
            <a:ext cx="2438400" cy="3343573"/>
          </a:xfrm>
          <a:prstGeom prst="roundRect">
            <a:avLst>
              <a:gd name="adj" fmla="val 520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387626" y="1282452"/>
            <a:ext cx="243545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387626" y="1583978"/>
            <a:ext cx="2167146" cy="1151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Identified revenue surplus of 1.7%, confirmed 73.5% gross margin, and flagged late delivery patterns for operational improvement.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91200" y="1069777"/>
            <a:ext cx="2438400" cy="3343573"/>
          </a:xfrm>
          <a:prstGeom prst="roundRect">
            <a:avLst>
              <a:gd name="adj" fmla="val 520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978426" y="1282452"/>
            <a:ext cx="243545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Skills Demonstrated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78426" y="1583978"/>
            <a:ext cx="2167146" cy="1151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Power Query, DAX measures, interactive dashboard design, and financial reconciliation using Excel tools.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13360" y="4565749"/>
            <a:ext cx="8636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Prepared by Youssef Mostafa | Monthly Financial Reconciliation Dashboard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799</Words>
  <Application>Microsoft Office PowerPoint</Application>
  <PresentationFormat>On-screen Show (16:9)</PresentationFormat>
  <Paragraphs>160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Financial Reconciliation Dashboard</dc:title>
  <dc:subject>Financial Analysis &amp; BI Dashboard</dc:subject>
  <dc:creator>Youssef Mostafa</dc:creator>
  <cp:lastModifiedBy>yousseffortina@hotmail.com</cp:lastModifiedBy>
  <cp:revision>8</cp:revision>
  <dcterms:created xsi:type="dcterms:W3CDTF">2026-05-24T19:55:55Z</dcterms:created>
  <dcterms:modified xsi:type="dcterms:W3CDTF">2026-06-04T14:52:02Z</dcterms:modified>
</cp:coreProperties>
</file>